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alibri (MS) Italics" panose="020B0604020202020204" charset="0"/>
      <p:regular r:id="rId14"/>
    </p:embeddedFont>
    <p:embeddedFont>
      <p:font typeface="Canva San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36" y="-3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3303" y="-1841497"/>
            <a:ext cx="9169403" cy="9169403"/>
            <a:chOff x="0" y="0"/>
            <a:chExt cx="12225871" cy="12225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2192000" cy="12192000"/>
            </a:xfrm>
            <a:custGeom>
              <a:avLst/>
              <a:gdLst/>
              <a:ahLst/>
              <a:cxnLst/>
              <a:rect l="l" t="t" r="r" b="b"/>
              <a:pathLst>
                <a:path w="12192000" h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028090">
                <a:alpha val="8627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2225909" cy="12225782"/>
            </a:xfrm>
            <a:custGeom>
              <a:avLst/>
              <a:gdLst/>
              <a:ahLst/>
              <a:cxnLst/>
              <a:rect l="l" t="t" r="r" b="b"/>
              <a:pathLst>
                <a:path w="12225909" h="12225782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028090">
                <a:alpha val="8627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2755897" y="6388103"/>
            <a:ext cx="7340603" cy="7340603"/>
            <a:chOff x="0" y="0"/>
            <a:chExt cx="9787471" cy="97874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02C39A">
                <a:alpha val="3922"/>
              </a:srgbClr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9787509" cy="9787382"/>
            </a:xfrm>
            <a:custGeom>
              <a:avLst/>
              <a:gdLst/>
              <a:ahLst/>
              <a:cxnLst/>
              <a:rect l="l" t="t" r="r" b="b"/>
              <a:pathLst>
                <a:path w="9787509" h="9787382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02C39A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84583" y="2547623"/>
            <a:ext cx="2951483" cy="610619"/>
            <a:chOff x="0" y="0"/>
            <a:chExt cx="3935311" cy="81415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3901440" cy="780288"/>
            </a:xfrm>
            <a:custGeom>
              <a:avLst/>
              <a:gdLst/>
              <a:ahLst/>
              <a:cxnLst/>
              <a:rect l="l" t="t" r="r" b="b"/>
              <a:pathLst>
                <a:path w="3901440" h="780288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935222" cy="814072"/>
            </a:xfrm>
            <a:custGeom>
              <a:avLst/>
              <a:gdLst/>
              <a:ahLst/>
              <a:cxnLst/>
              <a:rect l="l" t="t" r="r" b="b"/>
              <a:pathLst>
                <a:path w="3935222" h="81407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797179"/>
                  </a:lnTo>
                  <a:cubicBezTo>
                    <a:pt x="3935222" y="806577"/>
                    <a:pt x="3927602" y="814070"/>
                    <a:pt x="391833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918331" y="780288"/>
                  </a:lnTo>
                  <a:lnTo>
                    <a:pt x="3918331" y="797179"/>
                  </a:lnTo>
                  <a:lnTo>
                    <a:pt x="3901440" y="797179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97280" y="2560320"/>
            <a:ext cx="2926080" cy="585216"/>
            <a:chOff x="0" y="0"/>
            <a:chExt cx="3901440" cy="7802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01440" cy="780288"/>
            </a:xfrm>
            <a:custGeom>
              <a:avLst/>
              <a:gdLst/>
              <a:ahLst/>
              <a:cxnLst/>
              <a:rect l="l" t="t" r="r" b="b"/>
              <a:pathLst>
                <a:path w="3901440" h="780288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 20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7280" y="3383280"/>
            <a:ext cx="14630400" cy="1554480"/>
            <a:chOff x="0" y="0"/>
            <a:chExt cx="19507200" cy="2072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507200" cy="2072640"/>
            </a:xfrm>
            <a:custGeom>
              <a:avLst/>
              <a:gdLst/>
              <a:ahLst/>
              <a:cxnLst/>
              <a:rect l="l" t="t" r="r" b="b"/>
              <a:pathLst>
                <a:path w="19507200" h="2072640">
                  <a:moveTo>
                    <a:pt x="0" y="0"/>
                  </a:moveTo>
                  <a:lnTo>
                    <a:pt x="19507200" y="0"/>
                  </a:lnTo>
                  <a:lnTo>
                    <a:pt x="1950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3388" b="-13338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0"/>
              <a:ext cx="19507200" cy="2263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519"/>
                </a:lnSpc>
              </a:pPr>
              <a:r>
                <a:rPr lang="en-US" sz="9600" b="1" dirty="0">
                  <a:solidFill>
                    <a:srgbClr val="00B0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</a:t>
              </a:r>
              <a:r>
                <a:rPr lang="en-US" sz="9600" b="1" dirty="0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Cost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7280" y="4846320"/>
            <a:ext cx="14630400" cy="1554480"/>
            <a:chOff x="0" y="0"/>
            <a:chExt cx="19507200" cy="2072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507200" cy="2072640"/>
            </a:xfrm>
            <a:custGeom>
              <a:avLst/>
              <a:gdLst/>
              <a:ahLst/>
              <a:cxnLst/>
              <a:rect l="l" t="t" r="r" b="b"/>
              <a:pathLst>
                <a:path w="19507200" h="2072640">
                  <a:moveTo>
                    <a:pt x="0" y="0"/>
                  </a:moveTo>
                  <a:lnTo>
                    <a:pt x="19507200" y="0"/>
                  </a:lnTo>
                  <a:lnTo>
                    <a:pt x="1950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3388" b="-13338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0"/>
              <a:ext cx="19507200" cy="2263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519"/>
                </a:lnSpc>
              </a:pPr>
              <a:r>
                <a:rPr lang="en-US" sz="96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Optimization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7280" y="6492240"/>
            <a:ext cx="14630400" cy="822960"/>
            <a:chOff x="0" y="0"/>
            <a:chExt cx="19507200" cy="1097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507200" cy="1097280"/>
            </a:xfrm>
            <a:custGeom>
              <a:avLst/>
              <a:gdLst/>
              <a:ahLst/>
              <a:cxnLst/>
              <a:rect l="l" t="t" r="r" b="b"/>
              <a:pathLst>
                <a:path w="19507200" h="109728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6400" b="-29640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950720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AADAD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Convex Optimization for Healthcare Cost Management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97251" y="7444983"/>
            <a:ext cx="16581120" cy="2099693"/>
            <a:chOff x="-39" y="-1777676"/>
            <a:chExt cx="22108160" cy="27995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457920" cy="975360"/>
            </a:xfrm>
            <a:custGeom>
              <a:avLst/>
              <a:gdLst/>
              <a:ahLst/>
              <a:cxnLst/>
              <a:rect l="l" t="t" r="r" b="b"/>
              <a:pathLst>
                <a:path w="21457920" h="97536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-39" y="-1777676"/>
              <a:ext cx="22108160" cy="27995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3200" dirty="0">
                  <a:solidFill>
                    <a:srgbClr val="99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 Bavesh Sai Satya Prakash</a:t>
              </a:r>
            </a:p>
            <a:p>
              <a:pPr algn="l">
                <a:lnSpc>
                  <a:spcPts val="2640"/>
                </a:lnSpc>
              </a:pPr>
              <a:endParaRPr lang="en-US" sz="3200" dirty="0">
                <a:solidFill>
                  <a:srgbClr val="99CCC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640"/>
                </a:lnSpc>
              </a:pPr>
              <a:r>
                <a:rPr lang="en-US" sz="3200" dirty="0">
                  <a:solidFill>
                    <a:srgbClr val="99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Guravana Lakshmi Narayana Naidu</a:t>
              </a:r>
            </a:p>
            <a:p>
              <a:pPr algn="l">
                <a:lnSpc>
                  <a:spcPts val="2640"/>
                </a:lnSpc>
              </a:pPr>
              <a:endParaRPr lang="en-US" sz="3200" dirty="0">
                <a:solidFill>
                  <a:srgbClr val="99CCC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640"/>
                </a:lnSpc>
              </a:pPr>
              <a:r>
                <a:rPr lang="en-US" sz="3200" dirty="0">
                  <a:solidFill>
                    <a:srgbClr val="99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Thangella Jeevantej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548640"/>
            <a:ext cx="17007840" cy="1097280"/>
            <a:chOff x="0" y="0"/>
            <a:chExt cx="2267712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463040"/>
            </a:xfrm>
            <a:custGeom>
              <a:avLst/>
              <a:gdLst/>
              <a:ahLst/>
              <a:cxnLst/>
              <a:rect l="l" t="t" r="r" b="b"/>
              <a:pathLst>
                <a:path w="22677120" h="146304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2018" b="-25201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267712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7383" y="1998983"/>
            <a:ext cx="17033243" cy="1945643"/>
            <a:chOff x="0" y="0"/>
            <a:chExt cx="22710991" cy="259419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677119" cy="2560320"/>
            </a:xfrm>
            <a:custGeom>
              <a:avLst/>
              <a:gdLst/>
              <a:ahLst/>
              <a:cxnLst/>
              <a:rect l="l" t="t" r="r" b="b"/>
              <a:pathLst>
                <a:path w="22677119" h="2560320">
                  <a:moveTo>
                    <a:pt x="0" y="0"/>
                  </a:moveTo>
                  <a:lnTo>
                    <a:pt x="22677119" y="0"/>
                  </a:lnTo>
                  <a:lnTo>
                    <a:pt x="2267711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E8F4F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710902" cy="2594102"/>
            </a:xfrm>
            <a:custGeom>
              <a:avLst/>
              <a:gdLst/>
              <a:ahLst/>
              <a:cxnLst/>
              <a:rect l="l" t="t" r="r" b="b"/>
              <a:pathLst>
                <a:path w="22710902" h="25941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2577211"/>
                  </a:lnTo>
                  <a:cubicBezTo>
                    <a:pt x="22710902" y="2586609"/>
                    <a:pt x="22703282" y="2594102"/>
                    <a:pt x="22694010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2694010" y="2560320"/>
                  </a:lnTo>
                  <a:lnTo>
                    <a:pt x="22694010" y="2577211"/>
                  </a:lnTo>
                  <a:lnTo>
                    <a:pt x="22677120" y="257721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4400" y="2103120"/>
            <a:ext cx="16459200" cy="1737360"/>
            <a:chOff x="0" y="0"/>
            <a:chExt cx="21945600" cy="2316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2316480"/>
            </a:xfrm>
            <a:custGeom>
              <a:avLst/>
              <a:gdLst/>
              <a:ahLst/>
              <a:cxnLst/>
              <a:rect l="l" t="t" r="r" b="b"/>
              <a:pathLst>
                <a:path w="21945600" h="2316480">
                  <a:moveTo>
                    <a:pt x="0" y="0"/>
                  </a:moveTo>
                  <a:lnTo>
                    <a:pt x="21945600" y="0"/>
                  </a:lnTo>
                  <a:lnTo>
                    <a:pt x="219456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595" b="-13459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1945600" cy="2373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Question: </a:t>
              </a:r>
              <a:r>
                <a:rPr lang="en-US" sz="2600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can we optimize patient inclusion and policy decisions to minimize predicted medical charges while maximizing insurer profitability?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7383" y="4284983"/>
            <a:ext cx="8072123" cy="4780283"/>
            <a:chOff x="0" y="0"/>
            <a:chExt cx="10762831" cy="637371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0728960" cy="6339840"/>
            </a:xfrm>
            <a:custGeom>
              <a:avLst/>
              <a:gdLst/>
              <a:ahLst/>
              <a:cxnLst/>
              <a:rect l="l" t="t" r="r" b="b"/>
              <a:pathLst>
                <a:path w="10728960" h="6339840">
                  <a:moveTo>
                    <a:pt x="0" y="0"/>
                  </a:moveTo>
                  <a:lnTo>
                    <a:pt x="10728960" y="0"/>
                  </a:lnTo>
                  <a:lnTo>
                    <a:pt x="1072896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0A3D3D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0762742" cy="6373622"/>
            </a:xfrm>
            <a:custGeom>
              <a:avLst/>
              <a:gdLst/>
              <a:ahLst/>
              <a:cxnLst/>
              <a:rect l="l" t="t" r="r" b="b"/>
              <a:pathLst>
                <a:path w="10762742" h="637362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6356731"/>
                  </a:lnTo>
                  <a:cubicBezTo>
                    <a:pt x="10762742" y="6366129"/>
                    <a:pt x="10755122" y="6373622"/>
                    <a:pt x="1074585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10745851" y="6339840"/>
                  </a:lnTo>
                  <a:lnTo>
                    <a:pt x="10745851" y="6356731"/>
                  </a:lnTo>
                  <a:lnTo>
                    <a:pt x="10728960" y="63567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3D3D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14400" y="4451985"/>
            <a:ext cx="7498080" cy="893033"/>
            <a:chOff x="0" y="-38100"/>
            <a:chExt cx="9997440" cy="11907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b="-17825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721600" cy="1190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35339" y="5395024"/>
            <a:ext cx="7498080" cy="731520"/>
            <a:chOff x="0" y="0"/>
            <a:chExt cx="9997440" cy="975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97440" cy="975360"/>
            </a:xfrm>
            <a:custGeom>
              <a:avLst/>
              <a:gdLst/>
              <a:ahLst/>
              <a:cxnLst/>
              <a:rect l="l" t="t" r="r" b="b"/>
              <a:pathLst>
                <a:path w="9997440" h="97536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9721" b="-14972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9997440" cy="1042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Minimize</a:t>
              </a:r>
              <a:r>
                <a:rPr lang="en-US" sz="3000" b="1" dirty="0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Predicted Medical Charges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7383" y="5654040"/>
            <a:ext cx="7785097" cy="2848206"/>
            <a:chOff x="0" y="0"/>
            <a:chExt cx="9997440" cy="3657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997440" cy="3657600"/>
            </a:xfrm>
            <a:custGeom>
              <a:avLst/>
              <a:gdLst/>
              <a:ahLst/>
              <a:cxnLst/>
              <a:rect l="l" t="t" r="r" b="b"/>
              <a:pathLst>
                <a:path w="9997440" h="3657600">
                  <a:moveTo>
                    <a:pt x="0" y="0"/>
                  </a:moveTo>
                  <a:lnTo>
                    <a:pt x="9997440" y="0"/>
                  </a:lnTo>
                  <a:lnTo>
                    <a:pt x="99974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59" b="-325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9997440" cy="3714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99767" lvl="1" indent="-349883" algn="l">
                <a:lnSpc>
                  <a:spcPts val="3479"/>
                </a:lnSpc>
                <a:buFont typeface="Arial"/>
                <a:buChar char="•"/>
              </a:pPr>
              <a:r>
                <a:rPr lang="en-US" sz="2899">
                  <a:solidFill>
                    <a:srgbClr val="AADA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Minimization</a:t>
              </a:r>
            </a:p>
            <a:p>
              <a:pPr marL="699767" lvl="1" indent="-349883" algn="l">
                <a:lnSpc>
                  <a:spcPts val="3479"/>
                </a:lnSpc>
                <a:buFont typeface="Arial"/>
                <a:buChar char="•"/>
              </a:pPr>
              <a:r>
                <a:rPr lang="en-US" sz="2899">
                  <a:solidFill>
                    <a:srgbClr val="AADA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 Programming (LP) formulation</a:t>
              </a:r>
            </a:p>
            <a:p>
              <a:pPr marL="699767" lvl="1" indent="-349883" algn="l">
                <a:lnSpc>
                  <a:spcPts val="3479"/>
                </a:lnSpc>
                <a:buFont typeface="Arial"/>
                <a:buChar char="•"/>
              </a:pPr>
              <a:r>
                <a:rPr lang="en-US" sz="2899">
                  <a:solidFill>
                    <a:srgbClr val="AADA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Clinically feasible patient constraints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88503" y="4284983"/>
            <a:ext cx="8072123" cy="4780283"/>
            <a:chOff x="0" y="0"/>
            <a:chExt cx="10762831" cy="637371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10728960" cy="6339840"/>
            </a:xfrm>
            <a:custGeom>
              <a:avLst/>
              <a:gdLst/>
              <a:ahLst/>
              <a:cxnLst/>
              <a:rect l="l" t="t" r="r" b="b"/>
              <a:pathLst>
                <a:path w="10728960" h="6339840">
                  <a:moveTo>
                    <a:pt x="0" y="0"/>
                  </a:moveTo>
                  <a:lnTo>
                    <a:pt x="10728960" y="0"/>
                  </a:lnTo>
                  <a:lnTo>
                    <a:pt x="1072896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10762742" cy="6373622"/>
            </a:xfrm>
            <a:custGeom>
              <a:avLst/>
              <a:gdLst/>
              <a:ahLst/>
              <a:cxnLst/>
              <a:rect l="l" t="t" r="r" b="b"/>
              <a:pathLst>
                <a:path w="10762742" h="637362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6356731"/>
                  </a:lnTo>
                  <a:cubicBezTo>
                    <a:pt x="10762742" y="6366129"/>
                    <a:pt x="10755122" y="6373622"/>
                    <a:pt x="1074585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10745851" y="6339840"/>
                  </a:lnTo>
                  <a:lnTo>
                    <a:pt x="10745851" y="6356731"/>
                  </a:lnTo>
                  <a:lnTo>
                    <a:pt x="10728960" y="63567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875520" y="4480560"/>
            <a:ext cx="7498080" cy="640080"/>
            <a:chOff x="0" y="0"/>
            <a:chExt cx="9997440" cy="8534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b="-17825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875520" y="5120640"/>
            <a:ext cx="7498080" cy="997773"/>
            <a:chOff x="0" y="0"/>
            <a:chExt cx="9997440" cy="13303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997440" cy="975360"/>
            </a:xfrm>
            <a:custGeom>
              <a:avLst/>
              <a:gdLst/>
              <a:ahLst/>
              <a:cxnLst/>
              <a:rect l="l" t="t" r="r" b="b"/>
              <a:pathLst>
                <a:path w="9997440" h="97536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9721" b="-14972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288329"/>
              <a:ext cx="9997440" cy="1042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 dirty="0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Maximize Expected Profit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88503" y="5852160"/>
            <a:ext cx="7498080" cy="2743200"/>
            <a:chOff x="0" y="0"/>
            <a:chExt cx="9997440" cy="3657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997440" cy="3657600"/>
            </a:xfrm>
            <a:custGeom>
              <a:avLst/>
              <a:gdLst/>
              <a:ahLst/>
              <a:cxnLst/>
              <a:rect l="l" t="t" r="r" b="b"/>
              <a:pathLst>
                <a:path w="9997440" h="3657600">
                  <a:moveTo>
                    <a:pt x="0" y="0"/>
                  </a:moveTo>
                  <a:lnTo>
                    <a:pt x="9997440" y="0"/>
                  </a:lnTo>
                  <a:lnTo>
                    <a:pt x="99974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59" b="-325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9997440" cy="3714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Revenue minus predicted charges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Premium = 0.15 × Charges + $600</a:t>
              </a:r>
            </a:p>
            <a:p>
              <a:pPr marL="723896" lvl="1" indent="-361948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Quasi-convex nonlinear program (L-BFGS-B)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548640"/>
            <a:ext cx="17007840" cy="1097280"/>
            <a:chOff x="0" y="0"/>
            <a:chExt cx="2267712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463040"/>
            </a:xfrm>
            <a:custGeom>
              <a:avLst/>
              <a:gdLst/>
              <a:ahLst/>
              <a:cxnLst/>
              <a:rect l="l" t="t" r="r" b="b"/>
              <a:pathLst>
                <a:path w="22677120" h="146304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2018" b="-25201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267712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7383" y="1907543"/>
            <a:ext cx="5328923" cy="2402843"/>
            <a:chOff x="0" y="0"/>
            <a:chExt cx="7105231" cy="320379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7071360" cy="3169920"/>
            </a:xfrm>
            <a:custGeom>
              <a:avLst/>
              <a:gdLst/>
              <a:ahLst/>
              <a:cxnLst/>
              <a:rect l="l" t="t" r="r" b="b"/>
              <a:pathLst>
                <a:path w="7071360" h="316992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105142" cy="3203702"/>
            </a:xfrm>
            <a:custGeom>
              <a:avLst/>
              <a:gdLst/>
              <a:ahLst/>
              <a:cxnLst/>
              <a:rect l="l" t="t" r="r" b="b"/>
              <a:pathLst>
                <a:path w="7105142" h="320370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186811"/>
                  </a:lnTo>
                  <a:cubicBezTo>
                    <a:pt x="7105142" y="3196209"/>
                    <a:pt x="7097522" y="3203702"/>
                    <a:pt x="708825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7088251" y="3169920"/>
                  </a:lnTo>
                  <a:lnTo>
                    <a:pt x="7088251" y="3186811"/>
                  </a:lnTo>
                  <a:lnTo>
                    <a:pt x="7071360" y="318681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17858" y="2176713"/>
            <a:ext cx="5303520" cy="1280160"/>
            <a:chOff x="0" y="0"/>
            <a:chExt cx="7071360" cy="17068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71360" cy="1706880"/>
            </a:xfrm>
            <a:custGeom>
              <a:avLst/>
              <a:gdLst/>
              <a:ahLst/>
              <a:cxnLst/>
              <a:rect l="l" t="t" r="r" b="b"/>
              <a:pathLst>
                <a:path w="7071360" h="1706880">
                  <a:moveTo>
                    <a:pt x="0" y="0"/>
                  </a:moveTo>
                  <a:lnTo>
                    <a:pt x="7071360" y="0"/>
                  </a:lnTo>
                  <a:lnTo>
                    <a:pt x="70713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723" b="-3072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23825"/>
              <a:ext cx="707136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1,338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3291840"/>
            <a:ext cx="5303520" cy="731520"/>
            <a:chOff x="0" y="0"/>
            <a:chExt cx="7071360" cy="975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71360" cy="975360"/>
            </a:xfrm>
            <a:custGeom>
              <a:avLst/>
              <a:gdLst/>
              <a:ahLst/>
              <a:cxnLst/>
              <a:rect l="l" t="t" r="r" b="b"/>
              <a:pathLst>
                <a:path w="7071360" h="975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07136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 Records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88103" y="1907543"/>
            <a:ext cx="5328923" cy="2402843"/>
            <a:chOff x="0" y="0"/>
            <a:chExt cx="7105231" cy="320379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7071360" cy="3169920"/>
            </a:xfrm>
            <a:custGeom>
              <a:avLst/>
              <a:gdLst/>
              <a:ahLst/>
              <a:cxnLst/>
              <a:rect l="l" t="t" r="r" b="b"/>
              <a:pathLst>
                <a:path w="7071360" h="316992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A3D3D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7105142" cy="3203702"/>
            </a:xfrm>
            <a:custGeom>
              <a:avLst/>
              <a:gdLst/>
              <a:ahLst/>
              <a:cxnLst/>
              <a:rect l="l" t="t" r="r" b="b"/>
              <a:pathLst>
                <a:path w="7105142" h="320370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186811"/>
                  </a:lnTo>
                  <a:cubicBezTo>
                    <a:pt x="7105142" y="3196209"/>
                    <a:pt x="7097522" y="3203702"/>
                    <a:pt x="708825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7088251" y="3169920"/>
                  </a:lnTo>
                  <a:lnTo>
                    <a:pt x="7088251" y="3186811"/>
                  </a:lnTo>
                  <a:lnTo>
                    <a:pt x="7071360" y="318681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3D3D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388103" y="2176713"/>
            <a:ext cx="5303520" cy="1280160"/>
            <a:chOff x="0" y="0"/>
            <a:chExt cx="7071360" cy="17068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71360" cy="1706880"/>
            </a:xfrm>
            <a:custGeom>
              <a:avLst/>
              <a:gdLst/>
              <a:ahLst/>
              <a:cxnLst/>
              <a:rect l="l" t="t" r="r" b="b"/>
              <a:pathLst>
                <a:path w="7071360" h="1706880">
                  <a:moveTo>
                    <a:pt x="0" y="0"/>
                  </a:moveTo>
                  <a:lnTo>
                    <a:pt x="7071360" y="0"/>
                  </a:lnTo>
                  <a:lnTo>
                    <a:pt x="70713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723" b="-3072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23825"/>
              <a:ext cx="707136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00800" y="3291840"/>
            <a:ext cx="5303520" cy="731520"/>
            <a:chOff x="0" y="0"/>
            <a:chExt cx="7071360" cy="9753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71360" cy="975360"/>
            </a:xfrm>
            <a:custGeom>
              <a:avLst/>
              <a:gdLst/>
              <a:ahLst/>
              <a:cxnLst/>
              <a:rect l="l" t="t" r="r" b="b"/>
              <a:pathLst>
                <a:path w="7071360" h="975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07136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48823" y="1907543"/>
            <a:ext cx="5328923" cy="2402843"/>
            <a:chOff x="0" y="0"/>
            <a:chExt cx="7105231" cy="320379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7071360" cy="3169920"/>
            </a:xfrm>
            <a:custGeom>
              <a:avLst/>
              <a:gdLst/>
              <a:ahLst/>
              <a:cxnLst/>
              <a:rect l="l" t="t" r="r" b="b"/>
              <a:pathLst>
                <a:path w="7071360" h="316992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7105142" cy="3203702"/>
            </a:xfrm>
            <a:custGeom>
              <a:avLst/>
              <a:gdLst/>
              <a:ahLst/>
              <a:cxnLst/>
              <a:rect l="l" t="t" r="r" b="b"/>
              <a:pathLst>
                <a:path w="7105142" h="320370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186811"/>
                  </a:lnTo>
                  <a:cubicBezTo>
                    <a:pt x="7105142" y="3196209"/>
                    <a:pt x="7097522" y="3203702"/>
                    <a:pt x="708825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7088251" y="3169920"/>
                  </a:lnTo>
                  <a:lnTo>
                    <a:pt x="7088251" y="3186811"/>
                  </a:lnTo>
                  <a:lnTo>
                    <a:pt x="7071360" y="318681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2161520" y="2176713"/>
            <a:ext cx="5303520" cy="1280160"/>
            <a:chOff x="0" y="0"/>
            <a:chExt cx="7071360" cy="17068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071360" cy="1706880"/>
            </a:xfrm>
            <a:custGeom>
              <a:avLst/>
              <a:gdLst/>
              <a:ahLst/>
              <a:cxnLst/>
              <a:rect l="l" t="t" r="r" b="b"/>
              <a:pathLst>
                <a:path w="7071360" h="1706880">
                  <a:moveTo>
                    <a:pt x="0" y="0"/>
                  </a:moveTo>
                  <a:lnTo>
                    <a:pt x="7071360" y="0"/>
                  </a:lnTo>
                  <a:lnTo>
                    <a:pt x="70713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723" b="-3072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23825"/>
              <a:ext cx="707136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161520" y="3291840"/>
            <a:ext cx="5303520" cy="731520"/>
            <a:chOff x="0" y="0"/>
            <a:chExt cx="7071360" cy="9753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071360" cy="975360"/>
            </a:xfrm>
            <a:custGeom>
              <a:avLst/>
              <a:gdLst/>
              <a:ahLst/>
              <a:cxnLst/>
              <a:rect l="l" t="t" r="r" b="b"/>
              <a:pathLst>
                <a:path w="7071360" h="975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07136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Values</a:t>
              </a:r>
            </a:p>
          </p:txBody>
        </p:sp>
      </p:grpSp>
      <p:graphicFrame>
        <p:nvGraphicFramePr>
          <p:cNvPr id="35" name="Table 35"/>
          <p:cNvGraphicFramePr>
            <a:graphicFrameLocks noGrp="1"/>
          </p:cNvGraphicFramePr>
          <p:nvPr/>
        </p:nvGraphicFramePr>
        <p:xfrm>
          <a:off x="640080" y="4663440"/>
          <a:ext cx="16992599" cy="4978400"/>
        </p:xfrm>
        <a:graphic>
          <a:graphicData uri="http://schemas.openxmlformats.org/drawingml/2006/table">
            <a:tbl>
              <a:tblPr/>
              <a:tblGrid>
                <a:gridCol w="2753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5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E0F7F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Variable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E0F7F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E0F7F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age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Patient age (18–64 years)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sex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Categorical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Patient sex (male / female)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bmi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Body Mass Index (kg/m²)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children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dependents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smoker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Categorical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Smoker status (yes / no)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charges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Annual medical charges (USD) — TARGET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548640"/>
            <a:ext cx="17007840" cy="1097280"/>
            <a:chOff x="0" y="0"/>
            <a:chExt cx="2267712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463040"/>
            </a:xfrm>
            <a:custGeom>
              <a:avLst/>
              <a:gdLst/>
              <a:ahLst/>
              <a:cxnLst/>
              <a:rect l="l" t="t" r="r" b="b"/>
              <a:pathLst>
                <a:path w="22677120" h="146304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2018" b="-25201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267712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Regression Analysis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79040" y="445770"/>
            <a:ext cx="2494283" cy="2494283"/>
            <a:chOff x="0" y="0"/>
            <a:chExt cx="3325711" cy="332571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1645920"/>
                  </a:moveTo>
                  <a:cubicBezTo>
                    <a:pt x="0" y="736854"/>
                    <a:pt x="736854" y="0"/>
                    <a:pt x="1645920" y="0"/>
                  </a:cubicBezTo>
                  <a:cubicBezTo>
                    <a:pt x="2554986" y="0"/>
                    <a:pt x="3291840" y="736854"/>
                    <a:pt x="3291840" y="1645920"/>
                  </a:cubicBezTo>
                  <a:cubicBezTo>
                    <a:pt x="3291840" y="2554986"/>
                    <a:pt x="2554986" y="3291840"/>
                    <a:pt x="1645920" y="3291840"/>
                  </a:cubicBezTo>
                  <a:cubicBezTo>
                    <a:pt x="736854" y="3291840"/>
                    <a:pt x="0" y="2554986"/>
                    <a:pt x="0" y="164592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325622" cy="3325622"/>
            </a:xfrm>
            <a:custGeom>
              <a:avLst/>
              <a:gdLst/>
              <a:ahLst/>
              <a:cxnLst/>
              <a:rect l="l" t="t" r="r" b="b"/>
              <a:pathLst>
                <a:path w="3325622" h="3325622">
                  <a:moveTo>
                    <a:pt x="0" y="1662811"/>
                  </a:moveTo>
                  <a:cubicBezTo>
                    <a:pt x="0" y="744474"/>
                    <a:pt x="744474" y="0"/>
                    <a:pt x="1662811" y="0"/>
                  </a:cubicBezTo>
                  <a:lnTo>
                    <a:pt x="1662811" y="16891"/>
                  </a:lnTo>
                  <a:lnTo>
                    <a:pt x="1662811" y="0"/>
                  </a:lnTo>
                  <a:cubicBezTo>
                    <a:pt x="2581148" y="0"/>
                    <a:pt x="3325622" y="744474"/>
                    <a:pt x="3325622" y="1662811"/>
                  </a:cubicBezTo>
                  <a:lnTo>
                    <a:pt x="3308731" y="1662811"/>
                  </a:lnTo>
                  <a:lnTo>
                    <a:pt x="3325622" y="1662811"/>
                  </a:lnTo>
                  <a:cubicBezTo>
                    <a:pt x="3325622" y="2581148"/>
                    <a:pt x="2581148" y="3325622"/>
                    <a:pt x="1662811" y="3325622"/>
                  </a:cubicBezTo>
                  <a:lnTo>
                    <a:pt x="1662811" y="3308731"/>
                  </a:lnTo>
                  <a:lnTo>
                    <a:pt x="1662811" y="3325622"/>
                  </a:lnTo>
                  <a:cubicBezTo>
                    <a:pt x="744474" y="3325749"/>
                    <a:pt x="0" y="2581275"/>
                    <a:pt x="0" y="1662811"/>
                  </a:cubicBezTo>
                  <a:lnTo>
                    <a:pt x="16891" y="1662811"/>
                  </a:lnTo>
                  <a:lnTo>
                    <a:pt x="31115" y="1671955"/>
                  </a:lnTo>
                  <a:cubicBezTo>
                    <a:pt x="27051" y="1678305"/>
                    <a:pt x="19304" y="1681226"/>
                    <a:pt x="12065" y="1679067"/>
                  </a:cubicBezTo>
                  <a:cubicBezTo>
                    <a:pt x="4826" y="1676908"/>
                    <a:pt x="0" y="1670431"/>
                    <a:pt x="0" y="1662811"/>
                  </a:cubicBezTo>
                  <a:moveTo>
                    <a:pt x="33909" y="1662811"/>
                  </a:moveTo>
                  <a:lnTo>
                    <a:pt x="16891" y="1662811"/>
                  </a:lnTo>
                  <a:lnTo>
                    <a:pt x="2667" y="1653667"/>
                  </a:lnTo>
                  <a:cubicBezTo>
                    <a:pt x="6731" y="1647317"/>
                    <a:pt x="14478" y="1644396"/>
                    <a:pt x="21717" y="1646555"/>
                  </a:cubicBezTo>
                  <a:cubicBezTo>
                    <a:pt x="28956" y="1648714"/>
                    <a:pt x="33909" y="1655318"/>
                    <a:pt x="33909" y="1662811"/>
                  </a:cubicBezTo>
                  <a:cubicBezTo>
                    <a:pt x="33909" y="2562479"/>
                    <a:pt x="763270" y="3291840"/>
                    <a:pt x="1662938" y="3291840"/>
                  </a:cubicBezTo>
                  <a:cubicBezTo>
                    <a:pt x="2562606" y="3291840"/>
                    <a:pt x="3291967" y="2562479"/>
                    <a:pt x="3291967" y="1662811"/>
                  </a:cubicBezTo>
                  <a:cubicBezTo>
                    <a:pt x="3291967" y="763143"/>
                    <a:pt x="2562606" y="33782"/>
                    <a:pt x="1662938" y="33782"/>
                  </a:cubicBezTo>
                  <a:lnTo>
                    <a:pt x="1662938" y="16891"/>
                  </a:lnTo>
                  <a:lnTo>
                    <a:pt x="1662938" y="33909"/>
                  </a:lnTo>
                  <a:cubicBezTo>
                    <a:pt x="763143" y="33909"/>
                    <a:pt x="33909" y="763143"/>
                    <a:pt x="33909" y="1662811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5204443" y="309248"/>
            <a:ext cx="2468880" cy="2468880"/>
            <a:chOff x="0" y="0"/>
            <a:chExt cx="3291840" cy="3291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291840" cy="3348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R² = 0.75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7383" y="1816103"/>
            <a:ext cx="17033243" cy="1122683"/>
            <a:chOff x="0" y="0"/>
            <a:chExt cx="22710991" cy="149691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22677119" cy="1463040"/>
            </a:xfrm>
            <a:custGeom>
              <a:avLst/>
              <a:gdLst/>
              <a:ahLst/>
              <a:cxnLst/>
              <a:rect l="l" t="t" r="r" b="b"/>
              <a:pathLst>
                <a:path w="22677119" h="1463040">
                  <a:moveTo>
                    <a:pt x="0" y="0"/>
                  </a:moveTo>
                  <a:lnTo>
                    <a:pt x="22677119" y="0"/>
                  </a:lnTo>
                  <a:lnTo>
                    <a:pt x="22677119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A3D3D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2710902" cy="1496822"/>
            </a:xfrm>
            <a:custGeom>
              <a:avLst/>
              <a:gdLst/>
              <a:ahLst/>
              <a:cxnLst/>
              <a:rect l="l" t="t" r="r" b="b"/>
              <a:pathLst>
                <a:path w="22710902" h="149682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479931"/>
                  </a:lnTo>
                  <a:cubicBezTo>
                    <a:pt x="22710902" y="1489329"/>
                    <a:pt x="22703282" y="1496822"/>
                    <a:pt x="22694010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22694010" y="1463040"/>
                  </a:lnTo>
                  <a:lnTo>
                    <a:pt x="22694010" y="1479931"/>
                  </a:lnTo>
                  <a:lnTo>
                    <a:pt x="22677120" y="14799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3D3D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14400" y="1828800"/>
            <a:ext cx="16642080" cy="1097280"/>
            <a:chOff x="0" y="0"/>
            <a:chExt cx="22189440" cy="14630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189439" cy="1463040"/>
            </a:xfrm>
            <a:custGeom>
              <a:avLst/>
              <a:gdLst/>
              <a:ahLst/>
              <a:cxnLst/>
              <a:rect l="l" t="t" r="r" b="b"/>
              <a:pathLst>
                <a:path w="22189439" h="1463040">
                  <a:moveTo>
                    <a:pt x="0" y="0"/>
                  </a:moveTo>
                  <a:lnTo>
                    <a:pt x="22189439" y="0"/>
                  </a:lnTo>
                  <a:lnTo>
                    <a:pt x="22189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5523" b="-24552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21894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i="1">
                  <a:solidFill>
                    <a:srgbClr val="02C3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Charges = 257.29·age − 131.11·sex + 332.57·bmi + 479.37·children + 23,820.43·smoker − 353.64·region − 11,815.45</a:t>
              </a:r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4148" y="2093312"/>
            <a:ext cx="13010734" cy="8988356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11874503" y="3187703"/>
            <a:ext cx="5694683" cy="2037083"/>
            <a:chOff x="0" y="0"/>
            <a:chExt cx="7592911" cy="2716111"/>
          </a:xfrm>
        </p:grpSpPr>
        <p:sp>
          <p:nvSpPr>
            <p:cNvPr id="22" name="Freeform 22"/>
            <p:cNvSpPr/>
            <p:nvPr/>
          </p:nvSpPr>
          <p:spPr>
            <a:xfrm>
              <a:off x="16891" y="16891"/>
              <a:ext cx="7559040" cy="2682240"/>
            </a:xfrm>
            <a:custGeom>
              <a:avLst/>
              <a:gdLst/>
              <a:ahLst/>
              <a:cxnLst/>
              <a:rect l="l" t="t" r="r" b="b"/>
              <a:pathLst>
                <a:path w="7559040" h="2682240">
                  <a:moveTo>
                    <a:pt x="0" y="0"/>
                  </a:moveTo>
                  <a:lnTo>
                    <a:pt x="7559040" y="0"/>
                  </a:lnTo>
                  <a:lnTo>
                    <a:pt x="75590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96167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7592822" cy="2716022"/>
            </a:xfrm>
            <a:custGeom>
              <a:avLst/>
              <a:gdLst/>
              <a:ahLst/>
              <a:cxnLst/>
              <a:rect l="l" t="t" r="r" b="b"/>
              <a:pathLst>
                <a:path w="7592822" h="27160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99131"/>
                  </a:lnTo>
                  <a:cubicBezTo>
                    <a:pt x="7592822" y="2708529"/>
                    <a:pt x="7585202" y="2716022"/>
                    <a:pt x="757593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575931" y="2682240"/>
                  </a:lnTo>
                  <a:lnTo>
                    <a:pt x="7575931" y="2699131"/>
                  </a:lnTo>
                  <a:lnTo>
                    <a:pt x="7559040" y="26991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616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161520" y="3346704"/>
            <a:ext cx="5120640" cy="822960"/>
            <a:chOff x="0" y="0"/>
            <a:chExt cx="6827520" cy="10972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27520" cy="1097280"/>
            </a:xfrm>
            <a:custGeom>
              <a:avLst/>
              <a:gdLst/>
              <a:ahLst/>
              <a:cxnLst/>
              <a:rect l="l" t="t" r="r" b="b"/>
              <a:pathLst>
                <a:path w="6827520" h="109728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240" b="-7124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68275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Smoker +$23,820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161525" y="4169664"/>
            <a:ext cx="5120640" cy="694944"/>
            <a:chOff x="0" y="0"/>
            <a:chExt cx="6827520" cy="926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573" b="-9357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Largest cost driver by far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874503" y="5473703"/>
            <a:ext cx="5694683" cy="2037083"/>
            <a:chOff x="0" y="0"/>
            <a:chExt cx="7592911" cy="2716111"/>
          </a:xfrm>
        </p:grpSpPr>
        <p:sp>
          <p:nvSpPr>
            <p:cNvPr id="31" name="Freeform 31"/>
            <p:cNvSpPr/>
            <p:nvPr/>
          </p:nvSpPr>
          <p:spPr>
            <a:xfrm>
              <a:off x="16891" y="16891"/>
              <a:ext cx="7559040" cy="2682240"/>
            </a:xfrm>
            <a:custGeom>
              <a:avLst/>
              <a:gdLst/>
              <a:ahLst/>
              <a:cxnLst/>
              <a:rect l="l" t="t" r="r" b="b"/>
              <a:pathLst>
                <a:path w="7559040" h="2682240">
                  <a:moveTo>
                    <a:pt x="0" y="0"/>
                  </a:moveTo>
                  <a:lnTo>
                    <a:pt x="7559040" y="0"/>
                  </a:lnTo>
                  <a:lnTo>
                    <a:pt x="75590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7592822" cy="2716022"/>
            </a:xfrm>
            <a:custGeom>
              <a:avLst/>
              <a:gdLst/>
              <a:ahLst/>
              <a:cxnLst/>
              <a:rect l="l" t="t" r="r" b="b"/>
              <a:pathLst>
                <a:path w="7592822" h="27160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99131"/>
                  </a:lnTo>
                  <a:cubicBezTo>
                    <a:pt x="7592822" y="2708529"/>
                    <a:pt x="7585202" y="2716022"/>
                    <a:pt x="757593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575931" y="2682240"/>
                  </a:lnTo>
                  <a:lnTo>
                    <a:pt x="7575931" y="2699131"/>
                  </a:lnTo>
                  <a:lnTo>
                    <a:pt x="7559040" y="26991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2161520" y="5632704"/>
            <a:ext cx="5120640" cy="822960"/>
            <a:chOff x="0" y="0"/>
            <a:chExt cx="6827520" cy="10972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827520" cy="1097280"/>
            </a:xfrm>
            <a:custGeom>
              <a:avLst/>
              <a:gdLst/>
              <a:ahLst/>
              <a:cxnLst/>
              <a:rect l="l" t="t" r="r" b="b"/>
              <a:pathLst>
                <a:path w="6827520" h="109728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240" b="-7124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68275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BMI +$332.57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61520" y="6492240"/>
            <a:ext cx="5120640" cy="694944"/>
            <a:chOff x="0" y="0"/>
            <a:chExt cx="6827520" cy="9265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573" b="-9357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Higher BMI raises costs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874503" y="7759703"/>
            <a:ext cx="5694683" cy="2037083"/>
            <a:chOff x="0" y="0"/>
            <a:chExt cx="7592911" cy="2716111"/>
          </a:xfrm>
        </p:grpSpPr>
        <p:sp>
          <p:nvSpPr>
            <p:cNvPr id="40" name="Freeform 40"/>
            <p:cNvSpPr/>
            <p:nvPr/>
          </p:nvSpPr>
          <p:spPr>
            <a:xfrm>
              <a:off x="16891" y="16891"/>
              <a:ext cx="7559040" cy="2682240"/>
            </a:xfrm>
            <a:custGeom>
              <a:avLst/>
              <a:gdLst/>
              <a:ahLst/>
              <a:cxnLst/>
              <a:rect l="l" t="t" r="r" b="b"/>
              <a:pathLst>
                <a:path w="7559040" h="2682240">
                  <a:moveTo>
                    <a:pt x="0" y="0"/>
                  </a:moveTo>
                  <a:lnTo>
                    <a:pt x="7559040" y="0"/>
                  </a:lnTo>
                  <a:lnTo>
                    <a:pt x="75590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A3D3D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7592822" cy="2716022"/>
            </a:xfrm>
            <a:custGeom>
              <a:avLst/>
              <a:gdLst/>
              <a:ahLst/>
              <a:cxnLst/>
              <a:rect l="l" t="t" r="r" b="b"/>
              <a:pathLst>
                <a:path w="7592822" h="27160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99131"/>
                  </a:lnTo>
                  <a:cubicBezTo>
                    <a:pt x="7592822" y="2708529"/>
                    <a:pt x="7585202" y="2716022"/>
                    <a:pt x="757593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575931" y="2682240"/>
                  </a:lnTo>
                  <a:lnTo>
                    <a:pt x="7575931" y="2699131"/>
                  </a:lnTo>
                  <a:lnTo>
                    <a:pt x="7559040" y="26991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3D3D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2161520" y="7918704"/>
            <a:ext cx="5120640" cy="822960"/>
            <a:chOff x="0" y="0"/>
            <a:chExt cx="6827520" cy="10972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827520" cy="1097280"/>
            </a:xfrm>
            <a:custGeom>
              <a:avLst/>
              <a:gdLst/>
              <a:ahLst/>
              <a:cxnLst/>
              <a:rect l="l" t="t" r="r" b="b"/>
              <a:pathLst>
                <a:path w="6827520" h="109728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240" b="-7124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68275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 +$257.29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161520" y="8778240"/>
            <a:ext cx="5120640" cy="694944"/>
            <a:chOff x="0" y="0"/>
            <a:chExt cx="6827520" cy="92659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573" b="-9357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Older → higher charges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548640"/>
            <a:ext cx="17007840" cy="1097280"/>
            <a:chOff x="0" y="0"/>
            <a:chExt cx="2267712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463040"/>
            </a:xfrm>
            <a:custGeom>
              <a:avLst/>
              <a:gdLst/>
              <a:ahLst/>
              <a:cxnLst/>
              <a:rect l="l" t="t" r="r" b="b"/>
              <a:pathLst>
                <a:path w="22677120" h="146304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2018" b="-25201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267712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Optimization Formulation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7383" y="1907543"/>
            <a:ext cx="17033243" cy="939803"/>
            <a:chOff x="0" y="0"/>
            <a:chExt cx="22710991" cy="125307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677119" cy="1219200"/>
            </a:xfrm>
            <a:custGeom>
              <a:avLst/>
              <a:gdLst/>
              <a:ahLst/>
              <a:cxnLst/>
              <a:rect l="l" t="t" r="r" b="b"/>
              <a:pathLst>
                <a:path w="22677119" h="1219200">
                  <a:moveTo>
                    <a:pt x="0" y="0"/>
                  </a:moveTo>
                  <a:lnTo>
                    <a:pt x="22677119" y="0"/>
                  </a:lnTo>
                  <a:lnTo>
                    <a:pt x="226771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8F4F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710902" cy="1252984"/>
            </a:xfrm>
            <a:custGeom>
              <a:avLst/>
              <a:gdLst/>
              <a:ahLst/>
              <a:cxnLst/>
              <a:rect l="l" t="t" r="r" b="b"/>
              <a:pathLst>
                <a:path w="22710902" h="1252984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236091"/>
                  </a:lnTo>
                  <a:cubicBezTo>
                    <a:pt x="22710902" y="1245489"/>
                    <a:pt x="22703282" y="1252982"/>
                    <a:pt x="2269401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694010" y="1219200"/>
                  </a:lnTo>
                  <a:lnTo>
                    <a:pt x="22694010" y="1236091"/>
                  </a:lnTo>
                  <a:lnTo>
                    <a:pt x="22677120" y="123609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4400" y="1975104"/>
            <a:ext cx="16459200" cy="804672"/>
            <a:chOff x="0" y="0"/>
            <a:chExt cx="21945600" cy="1072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072896"/>
            </a:xfrm>
            <a:custGeom>
              <a:avLst/>
              <a:gdLst/>
              <a:ahLst/>
              <a:cxnLst/>
              <a:rect l="l" t="t" r="r" b="b"/>
              <a:pathLst>
                <a:path w="21945600" h="1072896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8557" b="-34855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1945600" cy="1130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i="1">
                  <a:solidFill>
                    <a:srgbClr val="0A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Decision Vector:  x = [age, sex, bmi, children, smoker, region]ᵀ</a:t>
              </a:r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640080" y="3104521"/>
          <a:ext cx="16992600" cy="6578600"/>
        </p:xfrm>
        <a:graphic>
          <a:graphicData uri="http://schemas.openxmlformats.org/drawingml/2006/table">
            <a:tbl>
              <a:tblPr/>
              <a:tblGrid>
                <a:gridCol w="2753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1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98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AADAD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Variable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AADAD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Constraint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AADAD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Justification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x₁ Age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 ≤ x₁ ≤ 64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Working-age adults eligible for insurance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x₂ Sex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≤ x₂ ≤ 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Binary: 0 = female, 1 = male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x₃ BMI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18.5 ≤ x₃ ≤ 30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Healthy BMI range per WHO classification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x₄ Children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≤ x₄ ≤ 5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Observed range in dataset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F9616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x₅ Smoker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F9616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x₅ = 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Non-smoker policy enforced to minimize risk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x₆ Region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≤ x₆ ≤ 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A3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Four-region encoding (NE, NW, SE, SW)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548640"/>
            <a:ext cx="17007840" cy="1097280"/>
            <a:chOff x="0" y="0"/>
            <a:chExt cx="2267712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463040"/>
            </a:xfrm>
            <a:custGeom>
              <a:avLst/>
              <a:gdLst/>
              <a:ahLst/>
              <a:cxnLst/>
              <a:rect l="l" t="t" r="r" b="b"/>
              <a:pathLst>
                <a:path w="22677120" h="146304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2018" b="-25201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267712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Optimization Results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7383" y="1816103"/>
            <a:ext cx="8163563" cy="7157723"/>
            <a:chOff x="0" y="0"/>
            <a:chExt cx="10884751" cy="95436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0850881" cy="9509760"/>
            </a:xfrm>
            <a:custGeom>
              <a:avLst/>
              <a:gdLst/>
              <a:ahLst/>
              <a:cxnLst/>
              <a:rect l="l" t="t" r="r" b="b"/>
              <a:pathLst>
                <a:path w="10850881" h="9509760">
                  <a:moveTo>
                    <a:pt x="0" y="0"/>
                  </a:moveTo>
                  <a:lnTo>
                    <a:pt x="10850881" y="0"/>
                  </a:lnTo>
                  <a:lnTo>
                    <a:pt x="10850881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0A3D3D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884662" cy="9543542"/>
            </a:xfrm>
            <a:custGeom>
              <a:avLst/>
              <a:gdLst/>
              <a:ahLst/>
              <a:cxnLst/>
              <a:rect l="l" t="t" r="r" b="b"/>
              <a:pathLst>
                <a:path w="10884662" h="954354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9526651"/>
                  </a:lnTo>
                  <a:cubicBezTo>
                    <a:pt x="10884662" y="9536049"/>
                    <a:pt x="10877042" y="9543542"/>
                    <a:pt x="10867772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10867772" y="9509760"/>
                  </a:lnTo>
                  <a:lnTo>
                    <a:pt x="10867772" y="9526651"/>
                  </a:lnTo>
                  <a:lnTo>
                    <a:pt x="10850880" y="952665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3D3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4400" y="2011680"/>
            <a:ext cx="7589520" cy="822960"/>
            <a:chOff x="0" y="0"/>
            <a:chExt cx="10119360" cy="1097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19360" cy="1097280"/>
            </a:xfrm>
            <a:custGeom>
              <a:avLst/>
              <a:gdLst/>
              <a:ahLst/>
              <a:cxnLst/>
              <a:rect l="l" t="t" r="r" b="b"/>
              <a:pathLst>
                <a:path w="10119360" h="1097280">
                  <a:moveTo>
                    <a:pt x="0" y="0"/>
                  </a:moveTo>
                  <a:lnTo>
                    <a:pt x="10119360" y="0"/>
                  </a:lnTo>
                  <a:lnTo>
                    <a:pt x="1011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695" b="-12969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11936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1 — Minimize Charges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834640"/>
            <a:ext cx="7589520" cy="548640"/>
            <a:chOff x="0" y="0"/>
            <a:chExt cx="1011936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119360" cy="731520"/>
            </a:xfrm>
            <a:custGeom>
              <a:avLst/>
              <a:gdLst/>
              <a:ahLst/>
              <a:cxnLst/>
              <a:rect l="l" t="t" r="r" b="b"/>
              <a:pathLst>
                <a:path w="10119360" h="73152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543" b="-21954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119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AADAD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(Linear Programming)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5840" y="3566160"/>
            <a:ext cx="2011680" cy="694944"/>
            <a:chOff x="0" y="0"/>
            <a:chExt cx="2682240" cy="9265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Age: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017520" y="3566160"/>
            <a:ext cx="5303520" cy="694944"/>
            <a:chOff x="0" y="0"/>
            <a:chExt cx="7071360" cy="926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71360" cy="926592"/>
            </a:xfrm>
            <a:custGeom>
              <a:avLst/>
              <a:gdLst/>
              <a:ahLst/>
              <a:cxnLst/>
              <a:rect l="l" t="t" r="r" b="b"/>
              <a:pathLst>
                <a:path w="7071360" h="926592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8701" b="-9870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 years (youngest)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05840" y="4389120"/>
            <a:ext cx="2011680" cy="694944"/>
            <a:chOff x="0" y="0"/>
            <a:chExt cx="2682240" cy="9265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Sex: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017520" y="4389120"/>
            <a:ext cx="5303520" cy="694944"/>
            <a:chOff x="0" y="0"/>
            <a:chExt cx="7071360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71360" cy="926592"/>
            </a:xfrm>
            <a:custGeom>
              <a:avLst/>
              <a:gdLst/>
              <a:ahLst/>
              <a:cxnLst/>
              <a:rect l="l" t="t" r="r" b="b"/>
              <a:pathLst>
                <a:path w="7071360" h="926592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8701" b="-9870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Male (lower charges)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05840" y="5212080"/>
            <a:ext cx="2011680" cy="694944"/>
            <a:chOff x="0" y="0"/>
            <a:chExt cx="2682240" cy="9265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BMI: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017520" y="5212080"/>
            <a:ext cx="5303520" cy="694944"/>
            <a:chOff x="0" y="0"/>
            <a:chExt cx="7071360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071360" cy="926592"/>
            </a:xfrm>
            <a:custGeom>
              <a:avLst/>
              <a:gdLst/>
              <a:ahLst/>
              <a:cxnLst/>
              <a:rect l="l" t="t" r="r" b="b"/>
              <a:pathLst>
                <a:path w="7071360" h="926592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8701" b="-9870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18.5 (healthy minimum)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05840" y="6035040"/>
            <a:ext cx="2011680" cy="694944"/>
            <a:chOff x="0" y="0"/>
            <a:chExt cx="268224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Children: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017520" y="6035040"/>
            <a:ext cx="5303520" cy="694944"/>
            <a:chOff x="0" y="0"/>
            <a:chExt cx="707136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071360" cy="926592"/>
            </a:xfrm>
            <a:custGeom>
              <a:avLst/>
              <a:gdLst/>
              <a:ahLst/>
              <a:cxnLst/>
              <a:rect l="l" t="t" r="r" b="b"/>
              <a:pathLst>
                <a:path w="7071360" h="926592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8701" b="-98701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(no dependents)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05840" y="6858000"/>
            <a:ext cx="2011680" cy="694944"/>
            <a:chOff x="0" y="0"/>
            <a:chExt cx="2682240" cy="9265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Smoker: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017520" y="6858000"/>
            <a:ext cx="5303520" cy="694944"/>
            <a:chOff x="0" y="0"/>
            <a:chExt cx="7071360" cy="926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071360" cy="926592"/>
            </a:xfrm>
            <a:custGeom>
              <a:avLst/>
              <a:gdLst/>
              <a:ahLst/>
              <a:cxnLst/>
              <a:rect l="l" t="t" r="r" b="b"/>
              <a:pathLst>
                <a:path w="7071360" h="926592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8701" b="-9870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(fixed constraint)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05840" y="7680960"/>
            <a:ext cx="2011680" cy="694944"/>
            <a:chOff x="0" y="0"/>
            <a:chExt cx="2682240" cy="9265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Region: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017520" y="7680960"/>
            <a:ext cx="5303520" cy="694944"/>
            <a:chOff x="0" y="0"/>
            <a:chExt cx="7071360" cy="9265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071360" cy="926592"/>
            </a:xfrm>
            <a:custGeom>
              <a:avLst/>
              <a:gdLst/>
              <a:ahLst/>
              <a:cxnLst/>
              <a:rect l="l" t="t" r="r" b="b"/>
              <a:pathLst>
                <a:path w="7071360" h="926592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8701" b="-9870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(max cost reduction)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497063" y="1816103"/>
            <a:ext cx="8163563" cy="7157723"/>
            <a:chOff x="0" y="0"/>
            <a:chExt cx="10884751" cy="954363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0850881" cy="9509760"/>
            </a:xfrm>
            <a:custGeom>
              <a:avLst/>
              <a:gdLst/>
              <a:ahLst/>
              <a:cxnLst/>
              <a:rect l="l" t="t" r="r" b="b"/>
              <a:pathLst>
                <a:path w="10850881" h="9509760">
                  <a:moveTo>
                    <a:pt x="0" y="0"/>
                  </a:moveTo>
                  <a:lnTo>
                    <a:pt x="10850881" y="0"/>
                  </a:lnTo>
                  <a:lnTo>
                    <a:pt x="10850881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0884662" cy="9543542"/>
            </a:xfrm>
            <a:custGeom>
              <a:avLst/>
              <a:gdLst/>
              <a:ahLst/>
              <a:cxnLst/>
              <a:rect l="l" t="t" r="r" b="b"/>
              <a:pathLst>
                <a:path w="10884662" h="954354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9526651"/>
                  </a:lnTo>
                  <a:cubicBezTo>
                    <a:pt x="10884662" y="9536049"/>
                    <a:pt x="10877042" y="9543542"/>
                    <a:pt x="10867772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10867772" y="9509760"/>
                  </a:lnTo>
                  <a:lnTo>
                    <a:pt x="10867772" y="9526651"/>
                  </a:lnTo>
                  <a:lnTo>
                    <a:pt x="10850880" y="952665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784080" y="2011680"/>
            <a:ext cx="7589520" cy="822960"/>
            <a:chOff x="0" y="0"/>
            <a:chExt cx="10119360" cy="10972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119360" cy="1097280"/>
            </a:xfrm>
            <a:custGeom>
              <a:avLst/>
              <a:gdLst/>
              <a:ahLst/>
              <a:cxnLst/>
              <a:rect l="l" t="t" r="r" b="b"/>
              <a:pathLst>
                <a:path w="10119360" h="1097280">
                  <a:moveTo>
                    <a:pt x="0" y="0"/>
                  </a:moveTo>
                  <a:lnTo>
                    <a:pt x="10119360" y="0"/>
                  </a:lnTo>
                  <a:lnTo>
                    <a:pt x="1011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695" b="-129695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1011936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2 — Maximize Profit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784080" y="2834640"/>
            <a:ext cx="7589520" cy="548640"/>
            <a:chOff x="0" y="0"/>
            <a:chExt cx="10119360" cy="7315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119360" cy="731520"/>
            </a:xfrm>
            <a:custGeom>
              <a:avLst/>
              <a:gdLst/>
              <a:ahLst/>
              <a:cxnLst/>
              <a:rect l="l" t="t" r="r" b="b"/>
              <a:pathLst>
                <a:path w="10119360" h="73152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543" b="-21954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0119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C8EEE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(Nonlinear — L-BFGS-B Solver)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784080" y="3657600"/>
            <a:ext cx="4023360" cy="694944"/>
            <a:chOff x="0" y="0"/>
            <a:chExt cx="5364480" cy="9265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364480" cy="926592"/>
            </a:xfrm>
            <a:custGeom>
              <a:avLst/>
              <a:gdLst/>
              <a:ahLst/>
              <a:cxnLst/>
              <a:rect l="l" t="t" r="r" b="b"/>
              <a:pathLst>
                <a:path w="5364480" h="926592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Predicted Charges: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807440" y="3657600"/>
            <a:ext cx="3474720" cy="694944"/>
            <a:chOff x="0" y="0"/>
            <a:chExt cx="4632960" cy="92659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632960" cy="926592"/>
            </a:xfrm>
            <a:custGeom>
              <a:avLst/>
              <a:gdLst/>
              <a:ahLst/>
              <a:cxnLst/>
              <a:rect l="l" t="t" r="r" b="b"/>
              <a:pathLst>
                <a:path w="4632960" h="926592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0F7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~$0 (min risk profile)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784080" y="4572000"/>
            <a:ext cx="4023360" cy="694944"/>
            <a:chOff x="0" y="0"/>
            <a:chExt cx="5364480" cy="92659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364480" cy="926592"/>
            </a:xfrm>
            <a:custGeom>
              <a:avLst/>
              <a:gdLst/>
              <a:ahLst/>
              <a:cxnLst/>
              <a:rect l="l" t="t" r="r" b="b"/>
              <a:pathLst>
                <a:path w="5364480" h="926592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Premium Charged: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807440" y="4572000"/>
            <a:ext cx="3474720" cy="694944"/>
            <a:chOff x="0" y="0"/>
            <a:chExt cx="4632960" cy="92659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632960" cy="926592"/>
            </a:xfrm>
            <a:custGeom>
              <a:avLst/>
              <a:gdLst/>
              <a:ahLst/>
              <a:cxnLst/>
              <a:rect l="l" t="t" r="r" b="b"/>
              <a:pathLst>
                <a:path w="4632960" h="926592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0F7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$600 (base floor)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784080" y="5486400"/>
            <a:ext cx="4023360" cy="694944"/>
            <a:chOff x="0" y="0"/>
            <a:chExt cx="5364480" cy="92659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364480" cy="926592"/>
            </a:xfrm>
            <a:custGeom>
              <a:avLst/>
              <a:gdLst/>
              <a:ahLst/>
              <a:cxnLst/>
              <a:rect l="l" t="t" r="r" b="b"/>
              <a:pathLst>
                <a:path w="5364480" h="926592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 Expected Profit: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3807440" y="5486400"/>
            <a:ext cx="3474720" cy="694944"/>
            <a:chOff x="0" y="0"/>
            <a:chExt cx="4632960" cy="92659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632960" cy="926592"/>
            </a:xfrm>
            <a:custGeom>
              <a:avLst/>
              <a:gdLst/>
              <a:ahLst/>
              <a:cxnLst/>
              <a:rect l="l" t="t" r="r" b="b"/>
              <a:pathLst>
                <a:path w="4632960" h="926592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0F7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~$600 per patient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784080" y="6400800"/>
            <a:ext cx="4023360" cy="694944"/>
            <a:chOff x="0" y="0"/>
            <a:chExt cx="5364480" cy="92659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364480" cy="926592"/>
            </a:xfrm>
            <a:custGeom>
              <a:avLst/>
              <a:gdLst/>
              <a:ahLst/>
              <a:cxnLst/>
              <a:rect l="l" t="t" r="r" b="b"/>
              <a:pathLst>
                <a:path w="5364480" h="926592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Level: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807440" y="6400800"/>
            <a:ext cx="3474720" cy="694944"/>
            <a:chOff x="0" y="0"/>
            <a:chExt cx="4632960" cy="92659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632960" cy="926592"/>
            </a:xfrm>
            <a:custGeom>
              <a:avLst/>
              <a:gdLst/>
              <a:ahLst/>
              <a:cxnLst/>
              <a:rect l="l" t="t" r="r" b="b"/>
              <a:pathLst>
                <a:path w="4632960" h="926592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0F7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Minimal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784080" y="7315200"/>
            <a:ext cx="4023360" cy="694944"/>
            <a:chOff x="0" y="0"/>
            <a:chExt cx="5364480" cy="92659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364480" cy="926592"/>
            </a:xfrm>
            <a:custGeom>
              <a:avLst/>
              <a:gdLst/>
              <a:ahLst/>
              <a:cxnLst/>
              <a:rect l="l" t="t" r="r" b="b"/>
              <a:pathLst>
                <a:path w="5364480" h="926592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Profile: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3807440" y="7315200"/>
            <a:ext cx="3474720" cy="694944"/>
            <a:chOff x="0" y="0"/>
            <a:chExt cx="4632960" cy="92659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632960" cy="926592"/>
            </a:xfrm>
            <a:custGeom>
              <a:avLst/>
              <a:gdLst/>
              <a:ahLst/>
              <a:cxnLst/>
              <a:rect l="l" t="t" r="r" b="b"/>
              <a:pathLst>
                <a:path w="4632960" h="926592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46329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0F7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Young, healthy, non-smoker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40080" y="9326880"/>
            <a:ext cx="17007840" cy="640080"/>
            <a:chOff x="0" y="0"/>
            <a:chExt cx="22677120" cy="85344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2677120" cy="853440"/>
            </a:xfrm>
            <a:custGeom>
              <a:avLst/>
              <a:gdLst/>
              <a:ahLst/>
              <a:cxnLst/>
              <a:rect l="l" t="t" r="r" b="b"/>
              <a:pathLst>
                <a:path w="22677120" h="853440">
                  <a:moveTo>
                    <a:pt x="0" y="0"/>
                  </a:moveTo>
                  <a:lnTo>
                    <a:pt x="22677120" y="0"/>
                  </a:lnTo>
                  <a:lnTo>
                    <a:pt x="22677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67745" b="-467745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2267712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02809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Key Insight: Cost minimization and profit maximization lead to the same optimal patient profile.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548640"/>
            <a:ext cx="17007840" cy="1097280"/>
            <a:chOff x="0" y="0"/>
            <a:chExt cx="2267712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463040"/>
            </a:xfrm>
            <a:custGeom>
              <a:avLst/>
              <a:gdLst/>
              <a:ahLst/>
              <a:cxnLst/>
              <a:rect l="l" t="t" r="r" b="b"/>
              <a:pathLst>
                <a:path w="22677120" h="146304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2018" b="-25201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267712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Findings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7383" y="1907543"/>
            <a:ext cx="8255003" cy="3683003"/>
            <a:chOff x="0" y="0"/>
            <a:chExt cx="11006671" cy="491067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0972800" cy="4876800"/>
            </a:xfrm>
            <a:custGeom>
              <a:avLst/>
              <a:gdLst/>
              <a:ahLst/>
              <a:cxnLst/>
              <a:rect l="l" t="t" r="r" b="b"/>
              <a:pathLst>
                <a:path w="10972800" h="4876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96167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1006582" cy="4910582"/>
            </a:xfrm>
            <a:custGeom>
              <a:avLst/>
              <a:gdLst/>
              <a:ahLst/>
              <a:cxnLst/>
              <a:rect l="l" t="t" r="r" b="b"/>
              <a:pathLst>
                <a:path w="11006582" h="4910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893691"/>
                  </a:lnTo>
                  <a:cubicBezTo>
                    <a:pt x="11006582" y="4903089"/>
                    <a:pt x="10998962" y="4910582"/>
                    <a:pt x="109896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0989691" y="4876800"/>
                  </a:lnTo>
                  <a:lnTo>
                    <a:pt x="10989691" y="4893691"/>
                  </a:lnTo>
                  <a:lnTo>
                    <a:pt x="10972800" y="48936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616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4400" y="2103120"/>
            <a:ext cx="7680960" cy="822960"/>
            <a:chOff x="0" y="0"/>
            <a:chExt cx="10241280" cy="1097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241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🚬  Smoking is the #1 Cost Driver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33277" y="3138330"/>
            <a:ext cx="7589520" cy="124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63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Coefficient of +$23,820 — dwarfs all other features. Non-smoker policies alone cut predicted charges by over 60%.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497063" y="1907543"/>
            <a:ext cx="8255003" cy="3683003"/>
            <a:chOff x="0" y="0"/>
            <a:chExt cx="11006671" cy="4910671"/>
          </a:xfrm>
        </p:grpSpPr>
        <p:sp>
          <p:nvSpPr>
            <p:cNvPr id="16" name="Freeform 16"/>
            <p:cNvSpPr/>
            <p:nvPr/>
          </p:nvSpPr>
          <p:spPr>
            <a:xfrm>
              <a:off x="16891" y="16891"/>
              <a:ext cx="10972800" cy="4876800"/>
            </a:xfrm>
            <a:custGeom>
              <a:avLst/>
              <a:gdLst/>
              <a:ahLst/>
              <a:cxnLst/>
              <a:rect l="l" t="t" r="r" b="b"/>
              <a:pathLst>
                <a:path w="10972800" h="4876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11006582" cy="4910582"/>
            </a:xfrm>
            <a:custGeom>
              <a:avLst/>
              <a:gdLst/>
              <a:ahLst/>
              <a:cxnLst/>
              <a:rect l="l" t="t" r="r" b="b"/>
              <a:pathLst>
                <a:path w="11006582" h="4910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893691"/>
                  </a:lnTo>
                  <a:cubicBezTo>
                    <a:pt x="11006582" y="4903089"/>
                    <a:pt x="10998962" y="4910582"/>
                    <a:pt x="109896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0989691" y="4876800"/>
                  </a:lnTo>
                  <a:lnTo>
                    <a:pt x="10989691" y="4893691"/>
                  </a:lnTo>
                  <a:lnTo>
                    <a:pt x="10972800" y="48936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784080" y="2103120"/>
            <a:ext cx="7680960" cy="822960"/>
            <a:chOff x="0" y="0"/>
            <a:chExt cx="10241280" cy="10972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0241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⚖️  BMI &amp; Age Compound Risk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75525" y="3106107"/>
            <a:ext cx="749808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Together they push charges higher; healthy BMI patients in younger age groups are the most profitable segment.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27383" y="5930903"/>
            <a:ext cx="8255003" cy="3683003"/>
            <a:chOff x="0" y="0"/>
            <a:chExt cx="11006671" cy="4910671"/>
          </a:xfrm>
        </p:grpSpPr>
        <p:sp>
          <p:nvSpPr>
            <p:cNvPr id="23" name="Freeform 23"/>
            <p:cNvSpPr/>
            <p:nvPr/>
          </p:nvSpPr>
          <p:spPr>
            <a:xfrm>
              <a:off x="16891" y="16891"/>
              <a:ext cx="10972800" cy="4876800"/>
            </a:xfrm>
            <a:custGeom>
              <a:avLst/>
              <a:gdLst/>
              <a:ahLst/>
              <a:cxnLst/>
              <a:rect l="l" t="t" r="r" b="b"/>
              <a:pathLst>
                <a:path w="10972800" h="4876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A3D3D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11006582" cy="4910582"/>
            </a:xfrm>
            <a:custGeom>
              <a:avLst/>
              <a:gdLst/>
              <a:ahLst/>
              <a:cxnLst/>
              <a:rect l="l" t="t" r="r" b="b"/>
              <a:pathLst>
                <a:path w="11006582" h="4910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893691"/>
                  </a:lnTo>
                  <a:cubicBezTo>
                    <a:pt x="11006582" y="4903089"/>
                    <a:pt x="10998962" y="4910582"/>
                    <a:pt x="109896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0989691" y="4876800"/>
                  </a:lnTo>
                  <a:lnTo>
                    <a:pt x="10989691" y="4893691"/>
                  </a:lnTo>
                  <a:lnTo>
                    <a:pt x="10972800" y="48936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3D3D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14400" y="6126480"/>
            <a:ext cx="7680960" cy="822960"/>
            <a:chOff x="0" y="0"/>
            <a:chExt cx="10241280" cy="10972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0241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Optimal Patient Profile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33277" y="7158990"/>
            <a:ext cx="749808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Non-smoking male, age 18, BMI 18.5, no children, Region 3 — minimizes predicted charges under the LP model.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497063" y="5930903"/>
            <a:ext cx="8255003" cy="3683003"/>
            <a:chOff x="0" y="0"/>
            <a:chExt cx="11006671" cy="491067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0972800" cy="4876800"/>
            </a:xfrm>
            <a:custGeom>
              <a:avLst/>
              <a:gdLst/>
              <a:ahLst/>
              <a:cxnLst/>
              <a:rect l="l" t="t" r="r" b="b"/>
              <a:pathLst>
                <a:path w="10972800" h="4876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2C39A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11006582" cy="4910582"/>
            </a:xfrm>
            <a:custGeom>
              <a:avLst/>
              <a:gdLst/>
              <a:ahLst/>
              <a:cxnLst/>
              <a:rect l="l" t="t" r="r" b="b"/>
              <a:pathLst>
                <a:path w="11006582" h="4910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893691"/>
                  </a:lnTo>
                  <a:cubicBezTo>
                    <a:pt x="11006582" y="4903089"/>
                    <a:pt x="10998962" y="4910582"/>
                    <a:pt x="109896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0989691" y="4876800"/>
                  </a:lnTo>
                  <a:lnTo>
                    <a:pt x="10989691" y="4893691"/>
                  </a:lnTo>
                  <a:lnTo>
                    <a:pt x="10972800" y="48936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784080" y="6126480"/>
            <a:ext cx="7680960" cy="822960"/>
            <a:chOff x="0" y="0"/>
            <a:chExt cx="10241280" cy="1097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241280" cy="1097280"/>
            </a:xfrm>
            <a:custGeom>
              <a:avLst/>
              <a:gdLst/>
              <a:ahLst/>
              <a:cxnLst/>
              <a:rect l="l" t="t" r="r" b="b"/>
              <a:pathLst>
                <a:path w="10241280" h="1097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10241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 Profit Aligns with Risk Reduction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966960" y="7158990"/>
            <a:ext cx="749808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Under the linear profit model, the charge-minimizing profile also maximizes expected profit.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548640"/>
            <a:ext cx="17007840" cy="1097280"/>
            <a:chOff x="0" y="0"/>
            <a:chExt cx="2267712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463040"/>
            </a:xfrm>
            <a:custGeom>
              <a:avLst/>
              <a:gdLst/>
              <a:ahLst/>
              <a:cxnLst/>
              <a:rect l="l" t="t" r="r" b="b"/>
              <a:pathLst>
                <a:path w="22677120" h="146304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2018" b="-25201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267712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&amp; Future Directions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7383" y="1907543"/>
            <a:ext cx="8163563" cy="7486376"/>
            <a:chOff x="0" y="0"/>
            <a:chExt cx="10884751" cy="9981834"/>
          </a:xfrm>
        </p:grpSpPr>
        <p:sp>
          <p:nvSpPr>
            <p:cNvPr id="9" name="Freeform 9"/>
            <p:cNvSpPr/>
            <p:nvPr/>
          </p:nvSpPr>
          <p:spPr>
            <a:xfrm>
              <a:off x="16891" y="149055"/>
              <a:ext cx="10850881" cy="9682941"/>
            </a:xfrm>
            <a:custGeom>
              <a:avLst/>
              <a:gdLst/>
              <a:ahLst/>
              <a:cxnLst/>
              <a:rect l="l" t="t" r="r" b="b"/>
              <a:pathLst>
                <a:path w="10850881" h="9682941">
                  <a:moveTo>
                    <a:pt x="0" y="0"/>
                  </a:moveTo>
                  <a:lnTo>
                    <a:pt x="10850881" y="0"/>
                  </a:lnTo>
                  <a:lnTo>
                    <a:pt x="10850881" y="9682941"/>
                  </a:lnTo>
                  <a:lnTo>
                    <a:pt x="0" y="9682941"/>
                  </a:lnTo>
                  <a:close/>
                </a:path>
              </a:pathLst>
            </a:custGeom>
            <a:solidFill>
              <a:srgbClr val="F96167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884662" cy="9981058"/>
            </a:xfrm>
            <a:custGeom>
              <a:avLst/>
              <a:gdLst/>
              <a:ahLst/>
              <a:cxnLst/>
              <a:rect l="l" t="t" r="r" b="b"/>
              <a:pathLst>
                <a:path w="10884662" h="9981058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67243"/>
                    <a:pt x="10884662" y="149055"/>
                  </a:cubicBezTo>
                  <a:lnTo>
                    <a:pt x="10884662" y="9831996"/>
                  </a:lnTo>
                  <a:cubicBezTo>
                    <a:pt x="10884662" y="9914928"/>
                    <a:pt x="10877042" y="9981050"/>
                    <a:pt x="10867772" y="9981050"/>
                  </a:cubicBezTo>
                  <a:lnTo>
                    <a:pt x="16891" y="9981050"/>
                  </a:lnTo>
                  <a:cubicBezTo>
                    <a:pt x="7620" y="9981872"/>
                    <a:pt x="0" y="9914928"/>
                    <a:pt x="0" y="9831996"/>
                  </a:cubicBezTo>
                  <a:lnTo>
                    <a:pt x="0" y="149055"/>
                  </a:lnTo>
                  <a:cubicBezTo>
                    <a:pt x="0" y="67243"/>
                    <a:pt x="7620" y="0"/>
                    <a:pt x="16891" y="0"/>
                  </a:cubicBezTo>
                  <a:moveTo>
                    <a:pt x="16891" y="299230"/>
                  </a:moveTo>
                  <a:lnTo>
                    <a:pt x="16891" y="149055"/>
                  </a:lnTo>
                  <a:lnTo>
                    <a:pt x="33909" y="149055"/>
                  </a:lnTo>
                  <a:lnTo>
                    <a:pt x="33909" y="9831996"/>
                  </a:lnTo>
                  <a:lnTo>
                    <a:pt x="16891" y="9831996"/>
                  </a:lnTo>
                  <a:lnTo>
                    <a:pt x="16891" y="9682941"/>
                  </a:lnTo>
                  <a:lnTo>
                    <a:pt x="10867772" y="9682941"/>
                  </a:lnTo>
                  <a:lnTo>
                    <a:pt x="10867772" y="9831996"/>
                  </a:lnTo>
                  <a:lnTo>
                    <a:pt x="10850880" y="9831996"/>
                  </a:lnTo>
                  <a:lnTo>
                    <a:pt x="10850880" y="149055"/>
                  </a:lnTo>
                  <a:lnTo>
                    <a:pt x="10867772" y="149055"/>
                  </a:lnTo>
                  <a:lnTo>
                    <a:pt x="10867772" y="299230"/>
                  </a:lnTo>
                  <a:lnTo>
                    <a:pt x="16891" y="299230"/>
                  </a:lnTo>
                  <a:close/>
                </a:path>
              </a:pathLst>
            </a:custGeom>
            <a:solidFill>
              <a:srgbClr val="F9616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201426" y="1950180"/>
            <a:ext cx="7589520" cy="1611453"/>
            <a:chOff x="0" y="0"/>
            <a:chExt cx="10119360" cy="21486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19360" cy="2148604"/>
            </a:xfrm>
            <a:custGeom>
              <a:avLst/>
              <a:gdLst/>
              <a:ahLst/>
              <a:cxnLst/>
              <a:rect l="l" t="t" r="r" b="b"/>
              <a:pathLst>
                <a:path w="10119360" h="2148604">
                  <a:moveTo>
                    <a:pt x="0" y="0"/>
                  </a:moveTo>
                  <a:lnTo>
                    <a:pt x="10119360" y="0"/>
                  </a:lnTo>
                  <a:lnTo>
                    <a:pt x="10119360" y="2148604"/>
                  </a:lnTo>
                  <a:lnTo>
                    <a:pt x="0" y="21486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234" b="-1730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0119360" cy="22152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9"/>
                </a:lnSpc>
              </a:pPr>
              <a:r>
                <a:rPr lang="en-US" sz="3499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Limitations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2604" y="2121948"/>
            <a:ext cx="8150866" cy="6766560"/>
            <a:chOff x="0" y="0"/>
            <a:chExt cx="10867822" cy="90220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67822" cy="9022080"/>
            </a:xfrm>
            <a:custGeom>
              <a:avLst/>
              <a:gdLst/>
              <a:ahLst/>
              <a:cxnLst/>
              <a:rect l="l" t="t" r="r" b="b"/>
              <a:pathLst>
                <a:path w="10867822" h="9022080">
                  <a:moveTo>
                    <a:pt x="0" y="0"/>
                  </a:moveTo>
                  <a:lnTo>
                    <a:pt x="10867822" y="0"/>
                  </a:lnTo>
                  <a:lnTo>
                    <a:pt x="10867822" y="9022080"/>
                  </a:lnTo>
                  <a:lnTo>
                    <a:pt x="0" y="9022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956" r="-5306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867822" cy="907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23898" lvl="1" indent="-3619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Linearity assumption may underfit non-linear cost curves</a:t>
              </a:r>
            </a:p>
            <a:p>
              <a:pPr marL="723898" lvl="1" indent="-3619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LP minimum falls outside realistic ranges (need charge floor)</a:t>
              </a:r>
            </a:p>
            <a:p>
              <a:pPr marL="723898" lvl="1" indent="-3619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Fixed bounds don't reflect evolving clinical guidelines</a:t>
              </a:r>
            </a:p>
            <a:p>
              <a:pPr marL="723898" lvl="1" indent="-3619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interaction terms (e.g., smoker × BMI) captured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97063" y="1907543"/>
            <a:ext cx="8163563" cy="7486376"/>
            <a:chOff x="0" y="0"/>
            <a:chExt cx="10884751" cy="9981834"/>
          </a:xfrm>
        </p:grpSpPr>
        <p:sp>
          <p:nvSpPr>
            <p:cNvPr id="18" name="Freeform 18"/>
            <p:cNvSpPr/>
            <p:nvPr/>
          </p:nvSpPr>
          <p:spPr>
            <a:xfrm>
              <a:off x="16891" y="149055"/>
              <a:ext cx="10850881" cy="9682941"/>
            </a:xfrm>
            <a:custGeom>
              <a:avLst/>
              <a:gdLst/>
              <a:ahLst/>
              <a:cxnLst/>
              <a:rect l="l" t="t" r="r" b="b"/>
              <a:pathLst>
                <a:path w="10850881" h="9682941">
                  <a:moveTo>
                    <a:pt x="0" y="0"/>
                  </a:moveTo>
                  <a:lnTo>
                    <a:pt x="10850881" y="0"/>
                  </a:lnTo>
                  <a:lnTo>
                    <a:pt x="10850881" y="9682941"/>
                  </a:lnTo>
                  <a:lnTo>
                    <a:pt x="0" y="9682941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0884662" cy="9981058"/>
            </a:xfrm>
            <a:custGeom>
              <a:avLst/>
              <a:gdLst/>
              <a:ahLst/>
              <a:cxnLst/>
              <a:rect l="l" t="t" r="r" b="b"/>
              <a:pathLst>
                <a:path w="10884662" h="9981058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67243"/>
                    <a:pt x="10884662" y="149055"/>
                  </a:cubicBezTo>
                  <a:lnTo>
                    <a:pt x="10884662" y="9831996"/>
                  </a:lnTo>
                  <a:cubicBezTo>
                    <a:pt x="10884662" y="9914928"/>
                    <a:pt x="10877042" y="9981050"/>
                    <a:pt x="10867772" y="9981050"/>
                  </a:cubicBezTo>
                  <a:lnTo>
                    <a:pt x="16891" y="9981050"/>
                  </a:lnTo>
                  <a:cubicBezTo>
                    <a:pt x="7620" y="9981872"/>
                    <a:pt x="0" y="9914928"/>
                    <a:pt x="0" y="9831996"/>
                  </a:cubicBezTo>
                  <a:lnTo>
                    <a:pt x="0" y="149055"/>
                  </a:lnTo>
                  <a:cubicBezTo>
                    <a:pt x="0" y="67243"/>
                    <a:pt x="7620" y="0"/>
                    <a:pt x="16891" y="0"/>
                  </a:cubicBezTo>
                  <a:moveTo>
                    <a:pt x="16891" y="299230"/>
                  </a:moveTo>
                  <a:lnTo>
                    <a:pt x="16891" y="149055"/>
                  </a:lnTo>
                  <a:lnTo>
                    <a:pt x="33909" y="149055"/>
                  </a:lnTo>
                  <a:lnTo>
                    <a:pt x="33909" y="9831996"/>
                  </a:lnTo>
                  <a:lnTo>
                    <a:pt x="16891" y="9831996"/>
                  </a:lnTo>
                  <a:lnTo>
                    <a:pt x="16891" y="9682941"/>
                  </a:lnTo>
                  <a:lnTo>
                    <a:pt x="10867772" y="9682941"/>
                  </a:lnTo>
                  <a:lnTo>
                    <a:pt x="10867772" y="9831996"/>
                  </a:lnTo>
                  <a:lnTo>
                    <a:pt x="10850880" y="9831996"/>
                  </a:lnTo>
                  <a:lnTo>
                    <a:pt x="10850880" y="149055"/>
                  </a:lnTo>
                  <a:lnTo>
                    <a:pt x="10867772" y="149055"/>
                  </a:lnTo>
                  <a:lnTo>
                    <a:pt x="10867772" y="299230"/>
                  </a:lnTo>
                  <a:lnTo>
                    <a:pt x="16891" y="29923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876796" y="1950180"/>
            <a:ext cx="7589520" cy="1641393"/>
            <a:chOff x="0" y="0"/>
            <a:chExt cx="10119360" cy="218852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19360" cy="2188524"/>
            </a:xfrm>
            <a:custGeom>
              <a:avLst/>
              <a:gdLst/>
              <a:ahLst/>
              <a:cxnLst/>
              <a:rect l="l" t="t" r="r" b="b"/>
              <a:pathLst>
                <a:path w="10119360" h="2188524">
                  <a:moveTo>
                    <a:pt x="0" y="0"/>
                  </a:moveTo>
                  <a:lnTo>
                    <a:pt x="10119360" y="0"/>
                  </a:lnTo>
                  <a:lnTo>
                    <a:pt x="10119360" y="2188524"/>
                  </a:lnTo>
                  <a:lnTo>
                    <a:pt x="0" y="21885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5026" b="-1516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0119360" cy="22742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9"/>
                </a:lnSpc>
              </a:pPr>
              <a:r>
                <a:rPr lang="en-US" sz="3599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🚀  Future Directions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82486" y="2121948"/>
            <a:ext cx="7978140" cy="6766560"/>
            <a:chOff x="0" y="0"/>
            <a:chExt cx="10637520" cy="90220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37520" cy="9022080"/>
            </a:xfrm>
            <a:custGeom>
              <a:avLst/>
              <a:gdLst/>
              <a:ahLst/>
              <a:cxnLst/>
              <a:rect l="l" t="t" r="r" b="b"/>
              <a:pathLst>
                <a:path w="10637520" h="9022080">
                  <a:moveTo>
                    <a:pt x="0" y="0"/>
                  </a:moveTo>
                  <a:lnTo>
                    <a:pt x="10637520" y="0"/>
                  </a:lnTo>
                  <a:lnTo>
                    <a:pt x="10637520" y="9022080"/>
                  </a:lnTo>
                  <a:lnTo>
                    <a:pt x="0" y="9022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254" r="-5638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0637520" cy="907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23898" lvl="1" indent="-3619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Non-linear models — XGBoost or Random Forest for better accuracy</a:t>
              </a:r>
            </a:p>
            <a:p>
              <a:pPr marL="723898" lvl="1" indent="-3619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Stochastic optimization with chance constraints against cost swings</a:t>
              </a:r>
            </a:p>
            <a:p>
              <a:pPr marL="723898" lvl="1" indent="-3619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Multi-objective optimization — cost, diversity, compliance</a:t>
              </a:r>
            </a:p>
            <a:p>
              <a:pPr marL="723898" lvl="1" indent="-3619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pricing using time-series risk profile adjustments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548640"/>
            <a:ext cx="17007840" cy="1097280"/>
            <a:chOff x="0" y="0"/>
            <a:chExt cx="2267712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463040"/>
            </a:xfrm>
            <a:custGeom>
              <a:avLst/>
              <a:gdLst/>
              <a:ahLst/>
              <a:cxnLst/>
              <a:rect l="l" t="t" r="r" b="b"/>
              <a:pathLst>
                <a:path w="22677120" h="146304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2018" b="-25201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267712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Impact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7383" y="1907543"/>
            <a:ext cx="17033243" cy="1854203"/>
            <a:chOff x="0" y="0"/>
            <a:chExt cx="22710991" cy="247227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677119" cy="2438400"/>
            </a:xfrm>
            <a:custGeom>
              <a:avLst/>
              <a:gdLst/>
              <a:ahLst/>
              <a:cxnLst/>
              <a:rect l="l" t="t" r="r" b="b"/>
              <a:pathLst>
                <a:path w="22677119" h="2438400">
                  <a:moveTo>
                    <a:pt x="0" y="0"/>
                  </a:moveTo>
                  <a:lnTo>
                    <a:pt x="22677119" y="0"/>
                  </a:lnTo>
                  <a:lnTo>
                    <a:pt x="2267711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3D3D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710902" cy="2472182"/>
            </a:xfrm>
            <a:custGeom>
              <a:avLst/>
              <a:gdLst/>
              <a:ahLst/>
              <a:cxnLst/>
              <a:rect l="l" t="t" r="r" b="b"/>
              <a:pathLst>
                <a:path w="22710902" h="247218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2455291"/>
                  </a:lnTo>
                  <a:cubicBezTo>
                    <a:pt x="22710902" y="2464689"/>
                    <a:pt x="22703282" y="2472182"/>
                    <a:pt x="2269401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2694010" y="2438400"/>
                  </a:lnTo>
                  <a:lnTo>
                    <a:pt x="22694010" y="2455291"/>
                  </a:lnTo>
                  <a:lnTo>
                    <a:pt x="22677120" y="245529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3D3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4400" y="2011680"/>
            <a:ext cx="16459200" cy="1645920"/>
            <a:chOff x="0" y="0"/>
            <a:chExt cx="21945600" cy="21945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2194560"/>
            </a:xfrm>
            <a:custGeom>
              <a:avLst/>
              <a:gdLst/>
              <a:ahLst/>
              <a:cxnLst/>
              <a:rect l="l" t="t" r="r" b="b"/>
              <a:pathLst>
                <a:path w="21945600" h="219456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1945600" cy="2251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i="1">
                  <a:solidFill>
                    <a:srgbClr val="02C3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"Optimization is not just theory — it turns patient data into better, fair, and cost-aware healthcare decisions."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7383" y="3954785"/>
            <a:ext cx="16459200" cy="2377440"/>
            <a:chOff x="0" y="0"/>
            <a:chExt cx="21945600" cy="31699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3169920"/>
            </a:xfrm>
            <a:custGeom>
              <a:avLst/>
              <a:gdLst/>
              <a:ahLst/>
              <a:cxnLst/>
              <a:rect l="l" t="t" r="r" b="b"/>
              <a:pathLst>
                <a:path w="21945600" h="3169920">
                  <a:moveTo>
                    <a:pt x="0" y="0"/>
                  </a:moveTo>
                  <a:lnTo>
                    <a:pt x="21945600" y="0"/>
                  </a:lnTo>
                  <a:lnTo>
                    <a:pt x="21945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896" b="-8489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1945600" cy="3227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99769" lvl="1" indent="-349884" algn="l">
                <a:lnSpc>
                  <a:spcPts val="3479"/>
                </a:lnSpc>
                <a:buFont typeface="Arial"/>
                <a:buChar char="•"/>
              </a:pPr>
              <a:r>
                <a:rPr lang="en-US" sz="28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 regression (R² = 0.75) successfully quantifies each cost driver's contribution</a:t>
              </a:r>
            </a:p>
            <a:p>
              <a:pPr marL="699769" lvl="1" indent="-349884" algn="l">
                <a:lnSpc>
                  <a:spcPts val="3479"/>
                </a:lnSpc>
                <a:buFont typeface="Arial"/>
                <a:buChar char="•"/>
              </a:pPr>
              <a:r>
                <a:rPr lang="en-US" sz="28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Convex optimization yields a data-driven ideal patient profile and policy benchmark</a:t>
              </a:r>
            </a:p>
            <a:p>
              <a:pPr marL="699769" lvl="1" indent="-349884" algn="l">
                <a:lnSpc>
                  <a:spcPts val="3479"/>
                </a:lnSpc>
                <a:buFont typeface="Arial"/>
                <a:buChar char="•"/>
              </a:pPr>
              <a:r>
                <a:rPr lang="en-US" sz="28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framework is transparent, scalable, and actionable for real-world insurers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7383" y="6662423"/>
            <a:ext cx="5328923" cy="3134363"/>
            <a:chOff x="0" y="0"/>
            <a:chExt cx="7105231" cy="417915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7071360" cy="4145280"/>
            </a:xfrm>
            <a:custGeom>
              <a:avLst/>
              <a:gdLst/>
              <a:ahLst/>
              <a:cxnLst/>
              <a:rect l="l" t="t" r="r" b="b"/>
              <a:pathLst>
                <a:path w="7071360" h="414528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E8F4F4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7105142" cy="4179062"/>
            </a:xfrm>
            <a:custGeom>
              <a:avLst/>
              <a:gdLst/>
              <a:ahLst/>
              <a:cxnLst/>
              <a:rect l="l" t="t" r="r" b="b"/>
              <a:pathLst>
                <a:path w="7105142" h="41790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162171"/>
                  </a:lnTo>
                  <a:cubicBezTo>
                    <a:pt x="7105142" y="4171569"/>
                    <a:pt x="7097522" y="4179062"/>
                    <a:pt x="70882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088251" y="4145280"/>
                  </a:lnTo>
                  <a:lnTo>
                    <a:pt x="7088251" y="4162171"/>
                  </a:lnTo>
                  <a:lnTo>
                    <a:pt x="7071360" y="41621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27383" y="6662423"/>
            <a:ext cx="5328923" cy="665483"/>
            <a:chOff x="0" y="0"/>
            <a:chExt cx="7105231" cy="887311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7071360" cy="853440"/>
            </a:xfrm>
            <a:custGeom>
              <a:avLst/>
              <a:gdLst/>
              <a:ahLst/>
              <a:cxnLst/>
              <a:rect l="l" t="t" r="r" b="b"/>
              <a:pathLst>
                <a:path w="7071360" h="85344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7105142" cy="887224"/>
            </a:xfrm>
            <a:custGeom>
              <a:avLst/>
              <a:gdLst/>
              <a:ahLst/>
              <a:cxnLst/>
              <a:rect l="l" t="t" r="r" b="b"/>
              <a:pathLst>
                <a:path w="7105142" h="88722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870331"/>
                  </a:lnTo>
                  <a:cubicBezTo>
                    <a:pt x="7105142" y="879729"/>
                    <a:pt x="7097522" y="887222"/>
                    <a:pt x="70882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7088251" y="853440"/>
                  </a:lnTo>
                  <a:lnTo>
                    <a:pt x="7088251" y="870331"/>
                  </a:lnTo>
                  <a:lnTo>
                    <a:pt x="7071360" y="8703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40080" y="6675120"/>
            <a:ext cx="5303520" cy="640080"/>
            <a:chOff x="0" y="0"/>
            <a:chExt cx="7071360" cy="8534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71360" cy="853440"/>
            </a:xfrm>
            <a:custGeom>
              <a:avLst/>
              <a:gdLst/>
              <a:ahLst/>
              <a:cxnLst/>
              <a:rect l="l" t="t" r="r" b="b"/>
              <a:pathLst>
                <a:path w="7071360" h="85344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1447" b="-11144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Profiling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22960" y="7406640"/>
            <a:ext cx="4937760" cy="2194560"/>
            <a:chOff x="0" y="0"/>
            <a:chExt cx="6583680" cy="29260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583680" cy="2926080"/>
            </a:xfrm>
            <a:custGeom>
              <a:avLst/>
              <a:gdLst/>
              <a:ahLst/>
              <a:cxnLst/>
              <a:rect l="l" t="t" r="r" b="b"/>
              <a:pathLst>
                <a:path w="6583680" h="29260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r="-702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6583680" cy="2983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 patient risk scoring using regression coefficients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88103" y="6662423"/>
            <a:ext cx="5328923" cy="3134363"/>
            <a:chOff x="0" y="0"/>
            <a:chExt cx="7105231" cy="417915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7071360" cy="4145280"/>
            </a:xfrm>
            <a:custGeom>
              <a:avLst/>
              <a:gdLst/>
              <a:ahLst/>
              <a:cxnLst/>
              <a:rect l="l" t="t" r="r" b="b"/>
              <a:pathLst>
                <a:path w="7071360" h="414528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E8F4F4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7105142" cy="4179062"/>
            </a:xfrm>
            <a:custGeom>
              <a:avLst/>
              <a:gdLst/>
              <a:ahLst/>
              <a:cxnLst/>
              <a:rect l="l" t="t" r="r" b="b"/>
              <a:pathLst>
                <a:path w="7105142" h="41790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162171"/>
                  </a:lnTo>
                  <a:cubicBezTo>
                    <a:pt x="7105142" y="4171569"/>
                    <a:pt x="7097522" y="4179062"/>
                    <a:pt x="70882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088251" y="4145280"/>
                  </a:lnTo>
                  <a:lnTo>
                    <a:pt x="7088251" y="4162171"/>
                  </a:lnTo>
                  <a:lnTo>
                    <a:pt x="7071360" y="41621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388103" y="6662423"/>
            <a:ext cx="5328923" cy="665483"/>
            <a:chOff x="0" y="0"/>
            <a:chExt cx="7105231" cy="88731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7071360" cy="853440"/>
            </a:xfrm>
            <a:custGeom>
              <a:avLst/>
              <a:gdLst/>
              <a:ahLst/>
              <a:cxnLst/>
              <a:rect l="l" t="t" r="r" b="b"/>
              <a:pathLst>
                <a:path w="7071360" h="85344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7105142" cy="887224"/>
            </a:xfrm>
            <a:custGeom>
              <a:avLst/>
              <a:gdLst/>
              <a:ahLst/>
              <a:cxnLst/>
              <a:rect l="l" t="t" r="r" b="b"/>
              <a:pathLst>
                <a:path w="7105142" h="88722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870331"/>
                  </a:lnTo>
                  <a:cubicBezTo>
                    <a:pt x="7105142" y="879729"/>
                    <a:pt x="7097522" y="887222"/>
                    <a:pt x="70882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7088251" y="853440"/>
                  </a:lnTo>
                  <a:lnTo>
                    <a:pt x="7088251" y="870331"/>
                  </a:lnTo>
                  <a:lnTo>
                    <a:pt x="7071360" y="8703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6400800" y="6675120"/>
            <a:ext cx="5303520" cy="640080"/>
            <a:chOff x="0" y="0"/>
            <a:chExt cx="7071360" cy="8534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071360" cy="853440"/>
            </a:xfrm>
            <a:custGeom>
              <a:avLst/>
              <a:gdLst/>
              <a:ahLst/>
              <a:cxnLst/>
              <a:rect l="l" t="t" r="r" b="b"/>
              <a:pathLst>
                <a:path w="7071360" h="85344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1447" b="-11144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Premium Setting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583680" y="7406640"/>
            <a:ext cx="4937760" cy="2194560"/>
            <a:chOff x="0" y="0"/>
            <a:chExt cx="6583680" cy="29260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83680" cy="2926080"/>
            </a:xfrm>
            <a:custGeom>
              <a:avLst/>
              <a:gdLst/>
              <a:ahLst/>
              <a:cxnLst/>
              <a:rect l="l" t="t" r="r" b="b"/>
              <a:pathLst>
                <a:path w="6583680" h="29260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r="-702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6583680" cy="2983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Risk-adjusted premiums based on quantified cost drivers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148823" y="6662423"/>
            <a:ext cx="5328923" cy="3134363"/>
            <a:chOff x="0" y="0"/>
            <a:chExt cx="7105231" cy="417915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7071360" cy="4145280"/>
            </a:xfrm>
            <a:custGeom>
              <a:avLst/>
              <a:gdLst/>
              <a:ahLst/>
              <a:cxnLst/>
              <a:rect l="l" t="t" r="r" b="b"/>
              <a:pathLst>
                <a:path w="7071360" h="414528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E8F4F4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7105142" cy="4179062"/>
            </a:xfrm>
            <a:custGeom>
              <a:avLst/>
              <a:gdLst/>
              <a:ahLst/>
              <a:cxnLst/>
              <a:rect l="l" t="t" r="r" b="b"/>
              <a:pathLst>
                <a:path w="7105142" h="41790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162171"/>
                  </a:lnTo>
                  <a:cubicBezTo>
                    <a:pt x="7105142" y="4171569"/>
                    <a:pt x="7097522" y="4179062"/>
                    <a:pt x="70882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088251" y="4145280"/>
                  </a:lnTo>
                  <a:lnTo>
                    <a:pt x="7088251" y="4162171"/>
                  </a:lnTo>
                  <a:lnTo>
                    <a:pt x="7071360" y="41621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2148823" y="6662423"/>
            <a:ext cx="5328923" cy="665483"/>
            <a:chOff x="0" y="0"/>
            <a:chExt cx="7105231" cy="887311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7071360" cy="853440"/>
            </a:xfrm>
            <a:custGeom>
              <a:avLst/>
              <a:gdLst/>
              <a:ahLst/>
              <a:cxnLst/>
              <a:rect l="l" t="t" r="r" b="b"/>
              <a:pathLst>
                <a:path w="7071360" h="85344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7105142" cy="887224"/>
            </a:xfrm>
            <a:custGeom>
              <a:avLst/>
              <a:gdLst/>
              <a:ahLst/>
              <a:cxnLst/>
              <a:rect l="l" t="t" r="r" b="b"/>
              <a:pathLst>
                <a:path w="7105142" h="88722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870331"/>
                  </a:lnTo>
                  <a:cubicBezTo>
                    <a:pt x="7105142" y="879729"/>
                    <a:pt x="7097522" y="887222"/>
                    <a:pt x="70882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7088251" y="853440"/>
                  </a:lnTo>
                  <a:lnTo>
                    <a:pt x="7088251" y="870331"/>
                  </a:lnTo>
                  <a:lnTo>
                    <a:pt x="7071360" y="8703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2161520" y="6675120"/>
            <a:ext cx="5303520" cy="640080"/>
            <a:chOff x="0" y="0"/>
            <a:chExt cx="7071360" cy="8534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071360" cy="853440"/>
            </a:xfrm>
            <a:custGeom>
              <a:avLst/>
              <a:gdLst/>
              <a:ahLst/>
              <a:cxnLst/>
              <a:rect l="l" t="t" r="r" b="b"/>
              <a:pathLst>
                <a:path w="7071360" h="85344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1447" b="-111447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Wellness Incentives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344400" y="7406640"/>
            <a:ext cx="4937760" cy="2194560"/>
            <a:chOff x="0" y="0"/>
            <a:chExt cx="6583680" cy="29260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583680" cy="2926080"/>
            </a:xfrm>
            <a:custGeom>
              <a:avLst/>
              <a:gdLst/>
              <a:ahLst/>
              <a:cxnLst/>
              <a:rect l="l" t="t" r="r" b="b"/>
              <a:pathLst>
                <a:path w="6583680" h="29260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r="-702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6583680" cy="2983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0A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Smoking cessation &amp; BMI programs reduce financial exposure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574222B-87D6-FFFC-D8BB-7A0BD6941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94392"/>
              </p:ext>
            </p:extLst>
          </p:nvPr>
        </p:nvGraphicFramePr>
        <p:xfrm>
          <a:off x="1068601" y="6440333"/>
          <a:ext cx="16459200" cy="208735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309588487"/>
                    </a:ext>
                  </a:extLst>
                </a:gridCol>
                <a:gridCol w="10363200">
                  <a:extLst>
                    <a:ext uri="{9D8B030D-6E8A-4147-A177-3AD203B41FA5}">
                      <a16:colId xmlns:a16="http://schemas.microsoft.com/office/drawing/2014/main" val="3871182587"/>
                    </a:ext>
                  </a:extLst>
                </a:gridCol>
              </a:tblGrid>
              <a:tr h="695784">
                <a:tc>
                  <a:txBody>
                    <a:bodyPr/>
                    <a:lstStyle/>
                    <a:p>
                      <a:r>
                        <a:rPr lang="en-IN" sz="2800" b="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Thangella Jeevantej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Mathematical modelling, Convex Formulation, Derivations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177"/>
                  </a:ext>
                </a:extLst>
              </a:tr>
              <a:tr h="695784"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Ch Bavesh Sai Satya Prakash 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Optimization algorithm, Implementation, Validation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035230"/>
                  </a:ext>
                </a:extLst>
              </a:tr>
              <a:tr h="695784"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Guravana Lakshmi Narayana Naidu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Data processing, Visualization, Insights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238976"/>
                  </a:ext>
                </a:extLst>
              </a:tr>
            </a:tbl>
          </a:graphicData>
        </a:graphic>
      </p:graphicFrame>
      <p:grpSp>
        <p:nvGrpSpPr>
          <p:cNvPr id="2" name="Group 2"/>
          <p:cNvGrpSpPr/>
          <p:nvPr/>
        </p:nvGrpSpPr>
        <p:grpSpPr>
          <a:xfrm>
            <a:off x="12788903" y="-1475737"/>
            <a:ext cx="8255003" cy="8255003"/>
            <a:chOff x="0" y="0"/>
            <a:chExt cx="11006671" cy="110066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28090">
                <a:alpha val="5882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1006709" cy="11006582"/>
            </a:xfrm>
            <a:custGeom>
              <a:avLst/>
              <a:gdLst/>
              <a:ahLst/>
              <a:cxnLst/>
              <a:rect l="l" t="t" r="r" b="b"/>
              <a:pathLst>
                <a:path w="11006709" h="11006582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lnTo>
                    <a:pt x="5503291" y="16891"/>
                  </a:lnTo>
                  <a:lnTo>
                    <a:pt x="5503291" y="0"/>
                  </a:lnTo>
                  <a:cubicBezTo>
                    <a:pt x="8542782" y="0"/>
                    <a:pt x="11006709" y="2463927"/>
                    <a:pt x="11006709" y="5503291"/>
                  </a:cubicBezTo>
                  <a:lnTo>
                    <a:pt x="10989818" y="5503291"/>
                  </a:lnTo>
                  <a:lnTo>
                    <a:pt x="11006709" y="5503291"/>
                  </a:lnTo>
                  <a:cubicBezTo>
                    <a:pt x="11006709" y="8542655"/>
                    <a:pt x="8542782" y="11006582"/>
                    <a:pt x="5503418" y="11006582"/>
                  </a:cubicBezTo>
                  <a:lnTo>
                    <a:pt x="5503418" y="10989690"/>
                  </a:lnTo>
                  <a:lnTo>
                    <a:pt x="5503418" y="11006582"/>
                  </a:lnTo>
                  <a:cubicBezTo>
                    <a:pt x="2463927" y="11006709"/>
                    <a:pt x="0" y="8542782"/>
                    <a:pt x="0" y="5503291"/>
                  </a:cubicBezTo>
                  <a:lnTo>
                    <a:pt x="16891" y="55032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0" y="5503291"/>
                  </a:lnTo>
                  <a:moveTo>
                    <a:pt x="33909" y="5503291"/>
                  </a:moveTo>
                  <a:cubicBezTo>
                    <a:pt x="33909" y="5512689"/>
                    <a:pt x="26289" y="5520182"/>
                    <a:pt x="17018" y="5520182"/>
                  </a:cubicBezTo>
                  <a:cubicBezTo>
                    <a:pt x="7747" y="5520182"/>
                    <a:pt x="0" y="5512689"/>
                    <a:pt x="0" y="5503291"/>
                  </a:cubicBezTo>
                  <a:cubicBezTo>
                    <a:pt x="0" y="5493893"/>
                    <a:pt x="7620" y="5486400"/>
                    <a:pt x="16891" y="5486400"/>
                  </a:cubicBezTo>
                  <a:cubicBezTo>
                    <a:pt x="26162" y="5486400"/>
                    <a:pt x="33782" y="5494020"/>
                    <a:pt x="33782" y="5503291"/>
                  </a:cubicBezTo>
                  <a:cubicBezTo>
                    <a:pt x="33909" y="8523986"/>
                    <a:pt x="2482596" y="10972800"/>
                    <a:pt x="5503291" y="10972800"/>
                  </a:cubicBezTo>
                  <a:cubicBezTo>
                    <a:pt x="8523986" y="10972800"/>
                    <a:pt x="10972800" y="8523986"/>
                    <a:pt x="10972800" y="5503291"/>
                  </a:cubicBezTo>
                  <a:cubicBezTo>
                    <a:pt x="10972800" y="2482596"/>
                    <a:pt x="8523986" y="33909"/>
                    <a:pt x="5503291" y="33909"/>
                  </a:cubicBezTo>
                  <a:lnTo>
                    <a:pt x="5503291" y="16891"/>
                  </a:lnTo>
                  <a:lnTo>
                    <a:pt x="5503291" y="33909"/>
                  </a:lnTo>
                  <a:cubicBezTo>
                    <a:pt x="2482596" y="33909"/>
                    <a:pt x="33909" y="2482596"/>
                    <a:pt x="33909" y="5503291"/>
                  </a:cubicBezTo>
                  <a:close/>
                </a:path>
              </a:pathLst>
            </a:custGeom>
            <a:solidFill>
              <a:srgbClr val="028090">
                <a:alpha val="5882"/>
              </a:srgbClr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-2207257" y="5839463"/>
            <a:ext cx="6426136" cy="6426136"/>
          </a:xfrm>
          <a:custGeom>
            <a:avLst/>
            <a:gdLst/>
            <a:ahLst/>
            <a:cxnLst/>
            <a:rect l="l" t="t" r="r" b="b"/>
            <a:pathLst>
              <a:path w="8568182" h="8568182">
                <a:moveTo>
                  <a:pt x="0" y="4284091"/>
                </a:moveTo>
                <a:cubicBezTo>
                  <a:pt x="0" y="1918081"/>
                  <a:pt x="1918081" y="0"/>
                  <a:pt x="4284091" y="0"/>
                </a:cubicBezTo>
                <a:lnTo>
                  <a:pt x="4284091" y="16891"/>
                </a:lnTo>
                <a:lnTo>
                  <a:pt x="4284091" y="0"/>
                </a:lnTo>
                <a:cubicBezTo>
                  <a:pt x="6650101" y="0"/>
                  <a:pt x="8568182" y="1918081"/>
                  <a:pt x="8568182" y="4284091"/>
                </a:cubicBezTo>
                <a:lnTo>
                  <a:pt x="8551290" y="4284091"/>
                </a:lnTo>
                <a:lnTo>
                  <a:pt x="8568182" y="4284091"/>
                </a:lnTo>
                <a:cubicBezTo>
                  <a:pt x="8568182" y="6650101"/>
                  <a:pt x="6650101" y="8568182"/>
                  <a:pt x="4284091" y="8568182"/>
                </a:cubicBezTo>
                <a:lnTo>
                  <a:pt x="4284091" y="8551290"/>
                </a:lnTo>
                <a:lnTo>
                  <a:pt x="4284091" y="8568182"/>
                </a:lnTo>
                <a:cubicBezTo>
                  <a:pt x="1918081" y="8568309"/>
                  <a:pt x="0" y="6650228"/>
                  <a:pt x="0" y="4284091"/>
                </a:cubicBezTo>
                <a:lnTo>
                  <a:pt x="16891" y="4284091"/>
                </a:lnTo>
                <a:lnTo>
                  <a:pt x="33909" y="4284091"/>
                </a:lnTo>
                <a:lnTo>
                  <a:pt x="16891" y="4284091"/>
                </a:lnTo>
                <a:lnTo>
                  <a:pt x="0" y="4284091"/>
                </a:lnTo>
                <a:moveTo>
                  <a:pt x="33909" y="4284091"/>
                </a:moveTo>
                <a:cubicBezTo>
                  <a:pt x="33909" y="4293489"/>
                  <a:pt x="26289" y="4300982"/>
                  <a:pt x="17018" y="4300982"/>
                </a:cubicBezTo>
                <a:cubicBezTo>
                  <a:pt x="7747" y="4300982"/>
                  <a:pt x="0" y="4293489"/>
                  <a:pt x="0" y="4284091"/>
                </a:cubicBezTo>
                <a:cubicBezTo>
                  <a:pt x="0" y="4274693"/>
                  <a:pt x="7620" y="4267200"/>
                  <a:pt x="16891" y="4267200"/>
                </a:cubicBezTo>
                <a:cubicBezTo>
                  <a:pt x="26162" y="4267200"/>
                  <a:pt x="33782" y="4274820"/>
                  <a:pt x="33782" y="4284091"/>
                </a:cubicBezTo>
                <a:cubicBezTo>
                  <a:pt x="33909" y="6631432"/>
                  <a:pt x="1936750" y="8534400"/>
                  <a:pt x="4284091" y="8534400"/>
                </a:cubicBezTo>
                <a:cubicBezTo>
                  <a:pt x="6631432" y="8534400"/>
                  <a:pt x="8534400" y="6631432"/>
                  <a:pt x="8534400" y="4284091"/>
                </a:cubicBezTo>
                <a:cubicBezTo>
                  <a:pt x="8534400" y="1936750"/>
                  <a:pt x="6631432" y="33909"/>
                  <a:pt x="4284091" y="33909"/>
                </a:cubicBezTo>
                <a:lnTo>
                  <a:pt x="4284091" y="16891"/>
                </a:lnTo>
                <a:lnTo>
                  <a:pt x="4284091" y="33909"/>
                </a:lnTo>
                <a:cubicBezTo>
                  <a:pt x="1936750" y="33909"/>
                  <a:pt x="33909" y="1936750"/>
                  <a:pt x="33909" y="4284091"/>
                </a:cubicBezTo>
                <a:close/>
              </a:path>
            </a:pathLst>
          </a:custGeom>
          <a:solidFill>
            <a:srgbClr val="02C39A">
              <a:alpha val="3922"/>
            </a:srgbClr>
          </a:solidFill>
        </p:spPr>
      </p:sp>
      <p:grpSp>
        <p:nvGrpSpPr>
          <p:cNvPr id="8" name="Group 8"/>
          <p:cNvGrpSpPr/>
          <p:nvPr/>
        </p:nvGrpSpPr>
        <p:grpSpPr>
          <a:xfrm>
            <a:off x="1097280" y="2377440"/>
            <a:ext cx="16093440" cy="2011680"/>
            <a:chOff x="0" y="0"/>
            <a:chExt cx="21457920" cy="2682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457920" cy="2682240"/>
            </a:xfrm>
            <a:custGeom>
              <a:avLst/>
              <a:gdLst/>
              <a:ahLst/>
              <a:cxnLst/>
              <a:rect l="l" t="t" r="r" b="b"/>
              <a:pathLst>
                <a:path w="21457920" h="2682240">
                  <a:moveTo>
                    <a:pt x="0" y="0"/>
                  </a:moveTo>
                  <a:lnTo>
                    <a:pt x="21457920" y="0"/>
                  </a:lnTo>
                  <a:lnTo>
                    <a:pt x="214579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09550"/>
              <a:ext cx="21457920" cy="2891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480"/>
                </a:lnSpc>
              </a:pPr>
              <a:r>
                <a:rPr lang="en-US" sz="10400" b="1" dirty="0">
                  <a:solidFill>
                    <a:srgbClr val="92D0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</a:t>
              </a:r>
              <a:r>
                <a:rPr lang="en-US" sz="10400" b="1" dirty="0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10400" b="1" dirty="0">
                  <a:solidFill>
                    <a:srgbClr val="92D0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</a:t>
              </a:r>
              <a:r>
                <a:rPr lang="en-US" sz="10400" b="1" dirty="0">
                  <a:solidFill>
                    <a:srgbClr val="0A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7280" y="4331970"/>
            <a:ext cx="16093440" cy="1062990"/>
            <a:chOff x="0" y="-76200"/>
            <a:chExt cx="21457920" cy="14173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457920" cy="1341120"/>
            </a:xfrm>
            <a:custGeom>
              <a:avLst/>
              <a:gdLst/>
              <a:ahLst/>
              <a:cxnLst/>
              <a:rect l="l" t="t" r="r" b="b"/>
              <a:pathLst>
                <a:path w="21457920" h="13411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21457920" cy="1417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i="1" dirty="0">
                  <a:solidFill>
                    <a:srgbClr val="02C3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Questions &amp; Discussion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00053" y="1630626"/>
            <a:ext cx="7180438" cy="6599559"/>
            <a:chOff x="-259039" y="-5329644"/>
            <a:chExt cx="9573918" cy="8799412"/>
          </a:xfrm>
        </p:grpSpPr>
        <p:sp>
          <p:nvSpPr>
            <p:cNvPr id="18" name="Freeform 18"/>
            <p:cNvSpPr/>
            <p:nvPr/>
          </p:nvSpPr>
          <p:spPr>
            <a:xfrm>
              <a:off x="-259039" y="-5329644"/>
              <a:ext cx="9552773" cy="3413760"/>
            </a:xfrm>
            <a:custGeom>
              <a:avLst/>
              <a:gdLst/>
              <a:ahLst/>
              <a:cxnLst/>
              <a:rect l="l" t="t" r="r" b="b"/>
              <a:pathLst>
                <a:path w="9552773" h="3413760">
                  <a:moveTo>
                    <a:pt x="0" y="0"/>
                  </a:moveTo>
                  <a:lnTo>
                    <a:pt x="9552773" y="0"/>
                  </a:lnTo>
                  <a:lnTo>
                    <a:pt x="9552773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805" r="-22522" b="-16805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-237894" y="65533"/>
              <a:ext cx="9552773" cy="34042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7280" y="9326880"/>
            <a:ext cx="16093440" cy="548640"/>
            <a:chOff x="0" y="0"/>
            <a:chExt cx="2145792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457920" cy="731520"/>
            </a:xfrm>
            <a:custGeom>
              <a:avLst/>
              <a:gdLst/>
              <a:ahLst/>
              <a:cxnLst/>
              <a:rect l="l" t="t" r="r" b="b"/>
              <a:pathLst>
                <a:path w="21457920" h="7315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1561" b="-52156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9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Code: github.com/CBSSP/Medical-cost-Optimizer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758</Words>
  <Application>Microsoft Office PowerPoint</Application>
  <PresentationFormat>Custom</PresentationFormat>
  <Paragraphs>150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 (MS) Bold</vt:lpstr>
      <vt:lpstr>Arial</vt:lpstr>
      <vt:lpstr>Calibri (MS) Italics</vt:lpstr>
      <vt:lpstr>Canva Sans</vt:lpstr>
      <vt:lpstr>Calibri (MS)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R² = 0.75</dc:title>
  <cp:lastModifiedBy>jeevantej Thangella</cp:lastModifiedBy>
  <cp:revision>7</cp:revision>
  <dcterms:created xsi:type="dcterms:W3CDTF">2006-08-16T00:00:00Z</dcterms:created>
  <dcterms:modified xsi:type="dcterms:W3CDTF">2026-05-06T10:21:41Z</dcterms:modified>
  <dc:identifier>DAHIyVmbrQI</dc:identifier>
</cp:coreProperties>
</file>